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imes New Roman MT" charset="1" panose="02030502070405020303"/>
      <p:regular r:id="rId16"/>
    </p:embeddedFont>
    <p:embeddedFont>
      <p:font typeface="Nice" charset="1" panose="020B0603030804020204"/>
      <p:regular r:id="rId17"/>
    </p:embeddedFont>
    <p:embeddedFont>
      <p:font typeface="Open Sans" charset="1" panose="020B0606030504020204"/>
      <p:regular r:id="rId18"/>
    </p:embeddedFont>
    <p:embeddedFont>
      <p:font typeface="Times New Roman MT Bold" charset="1" panose="020308020704050203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png" Type="http://schemas.openxmlformats.org/officeDocument/2006/relationships/image"/><Relationship Id="rId2" Target="../media/image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Freeform 2" id="2"/>
          <p:cNvSpPr/>
          <p:nvPr/>
        </p:nvSpPr>
        <p:spPr>
          <a:xfrm flipH="false" flipV="false" rot="0">
            <a:off x="-401237" y="6580264"/>
            <a:ext cx="8299885" cy="4322857"/>
          </a:xfrm>
          <a:custGeom>
            <a:avLst/>
            <a:gdLst/>
            <a:ahLst/>
            <a:cxnLst/>
            <a:rect r="r" b="b" t="t" l="l"/>
            <a:pathLst>
              <a:path h="4322857" w="8299885">
                <a:moveTo>
                  <a:pt x="0" y="0"/>
                </a:moveTo>
                <a:lnTo>
                  <a:pt x="8299885" y="0"/>
                </a:lnTo>
                <a:lnTo>
                  <a:pt x="8299885" y="4322857"/>
                </a:lnTo>
                <a:lnTo>
                  <a:pt x="0" y="4322857"/>
                </a:lnTo>
                <a:lnTo>
                  <a:pt x="0" y="0"/>
                </a:lnTo>
                <a:close/>
              </a:path>
            </a:pathLst>
          </a:custGeom>
          <a:blipFill>
            <a:blip r:embed="rId2"/>
            <a:stretch>
              <a:fillRect l="0" t="0" r="0" b="0"/>
            </a:stretch>
          </a:blipFill>
        </p:spPr>
      </p:sp>
      <p:sp>
        <p:nvSpPr>
          <p:cNvPr name="TextBox 3" id="3"/>
          <p:cNvSpPr txBox="true"/>
          <p:nvPr/>
        </p:nvSpPr>
        <p:spPr>
          <a:xfrm rot="0">
            <a:off x="2594305" y="2972646"/>
            <a:ext cx="13306378" cy="1866556"/>
          </a:xfrm>
          <a:prstGeom prst="rect">
            <a:avLst/>
          </a:prstGeom>
        </p:spPr>
        <p:txBody>
          <a:bodyPr anchor="t" rtlCol="false" tIns="0" lIns="0" bIns="0" rIns="0">
            <a:spAutoFit/>
          </a:bodyPr>
          <a:lstStyle/>
          <a:p>
            <a:pPr algn="ctr">
              <a:lnSpc>
                <a:spcPts val="6353"/>
              </a:lnSpc>
            </a:pPr>
            <a:r>
              <a:rPr lang="en-US" sz="8042">
                <a:solidFill>
                  <a:srgbClr val="044A6A"/>
                </a:solidFill>
                <a:latin typeface="Times New Roman MT"/>
                <a:ea typeface="Times New Roman MT"/>
                <a:cs typeface="Times New Roman MT"/>
                <a:sym typeface="Times New Roman MT"/>
              </a:rPr>
              <a:t> AirAware - Smart Air Quality prediction system</a:t>
            </a:r>
          </a:p>
        </p:txBody>
      </p:sp>
      <p:sp>
        <p:nvSpPr>
          <p:cNvPr name="Freeform 4" id="4"/>
          <p:cNvSpPr/>
          <p:nvPr/>
        </p:nvSpPr>
        <p:spPr>
          <a:xfrm flipH="false" flipV="false" rot="0">
            <a:off x="9938761" y="-1400690"/>
            <a:ext cx="9778768" cy="4000405"/>
          </a:xfrm>
          <a:custGeom>
            <a:avLst/>
            <a:gdLst/>
            <a:ahLst/>
            <a:cxnLst/>
            <a:rect r="r" b="b" t="t" l="l"/>
            <a:pathLst>
              <a:path h="4000405" w="9778768">
                <a:moveTo>
                  <a:pt x="0" y="0"/>
                </a:moveTo>
                <a:lnTo>
                  <a:pt x="9778767" y="0"/>
                </a:lnTo>
                <a:lnTo>
                  <a:pt x="9778767" y="4000405"/>
                </a:lnTo>
                <a:lnTo>
                  <a:pt x="0" y="40004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4181932">
            <a:off x="-2893003" y="8590"/>
            <a:ext cx="9021285" cy="5969359"/>
          </a:xfrm>
          <a:custGeom>
            <a:avLst/>
            <a:gdLst/>
            <a:ahLst/>
            <a:cxnLst/>
            <a:rect r="r" b="b" t="t" l="l"/>
            <a:pathLst>
              <a:path h="5969359" w="9021285">
                <a:moveTo>
                  <a:pt x="0" y="0"/>
                </a:moveTo>
                <a:lnTo>
                  <a:pt x="9021285" y="0"/>
                </a:lnTo>
                <a:lnTo>
                  <a:pt x="9021285" y="5969359"/>
                </a:lnTo>
                <a:lnTo>
                  <a:pt x="0" y="59693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2505715" y="7319535"/>
            <a:ext cx="12032406" cy="1784213"/>
          </a:xfrm>
          <a:prstGeom prst="rect">
            <a:avLst/>
          </a:prstGeom>
        </p:spPr>
        <p:txBody>
          <a:bodyPr anchor="t" rtlCol="false" tIns="0" lIns="0" bIns="0" rIns="0">
            <a:spAutoFit/>
          </a:bodyPr>
          <a:lstStyle/>
          <a:p>
            <a:pPr algn="l">
              <a:lnSpc>
                <a:spcPts val="3507"/>
              </a:lnSpc>
            </a:pPr>
            <a:r>
              <a:rPr lang="en-US" sz="2505" spc="27">
                <a:solidFill>
                  <a:srgbClr val="044A6A"/>
                </a:solidFill>
                <a:latin typeface="Nice"/>
                <a:ea typeface="Nice"/>
                <a:cs typeface="Nice"/>
                <a:sym typeface="Nice"/>
              </a:rPr>
              <a:t>NAME: SAHIL CHOUDHARY</a:t>
            </a:r>
          </a:p>
          <a:p>
            <a:pPr algn="l">
              <a:lnSpc>
                <a:spcPts val="3507"/>
              </a:lnSpc>
            </a:pPr>
            <a:r>
              <a:rPr lang="en-US" sz="2505" spc="27">
                <a:solidFill>
                  <a:srgbClr val="044A6A"/>
                </a:solidFill>
                <a:latin typeface="Nice"/>
                <a:ea typeface="Nice"/>
                <a:cs typeface="Nice"/>
                <a:sym typeface="Nice"/>
              </a:rPr>
              <a:t>TEAM NO. 2</a:t>
            </a:r>
          </a:p>
          <a:p>
            <a:pPr algn="l">
              <a:lnSpc>
                <a:spcPts val="3507"/>
              </a:lnSpc>
            </a:pPr>
            <a:r>
              <a:rPr lang="en-US" sz="2505" spc="27">
                <a:solidFill>
                  <a:srgbClr val="044A6A"/>
                </a:solidFill>
                <a:latin typeface="Nice"/>
                <a:ea typeface="Nice"/>
                <a:cs typeface="Nice"/>
                <a:sym typeface="Nice"/>
              </a:rPr>
              <a:t>PROJECT NAME: AIRAWARE - SMART AIR QUALITY PREDICTION SYSTEM</a:t>
            </a:r>
          </a:p>
          <a:p>
            <a:pPr algn="l">
              <a:lnSpc>
                <a:spcPts val="3507"/>
              </a:lnSpc>
            </a:pPr>
          </a:p>
        </p:txBody>
      </p:sp>
      <p:sp>
        <p:nvSpPr>
          <p:cNvPr name="Freeform 7" id="7"/>
          <p:cNvSpPr/>
          <p:nvPr/>
        </p:nvSpPr>
        <p:spPr>
          <a:xfrm flipH="false" flipV="false" rot="-4181932">
            <a:off x="11286547" y="4940010"/>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8241654" y="1462920"/>
            <a:ext cx="2011680" cy="1530350"/>
          </a:xfrm>
          <a:prstGeom prst="rect">
            <a:avLst/>
          </a:prstGeom>
        </p:spPr>
        <p:txBody>
          <a:bodyPr anchor="t" rtlCol="false" tIns="0" lIns="0" bIns="0" rIns="0">
            <a:spAutoFit/>
          </a:bodyPr>
          <a:lstStyle/>
          <a:p>
            <a:pPr algn="ctr">
              <a:lnSpc>
                <a:spcPts val="11200"/>
              </a:lnSpc>
              <a:spcBef>
                <a:spcPct val="0"/>
              </a:spcBef>
            </a:pPr>
            <a:r>
              <a:rPr lang="en-US" sz="8000">
                <a:solidFill>
                  <a:srgbClr val="044A6A"/>
                </a:solidFill>
                <a:latin typeface="Times New Roman MT"/>
                <a:ea typeface="Times New Roman MT"/>
                <a:cs typeface="Times New Roman MT"/>
                <a:sym typeface="Times New Roman MT"/>
              </a:rPr>
              <a:t>Title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TextBox 2" id="2"/>
          <p:cNvSpPr txBox="true"/>
          <p:nvPr/>
        </p:nvSpPr>
        <p:spPr>
          <a:xfrm rot="0">
            <a:off x="5804041" y="723176"/>
            <a:ext cx="6545941" cy="1195734"/>
          </a:xfrm>
          <a:prstGeom prst="rect">
            <a:avLst/>
          </a:prstGeom>
        </p:spPr>
        <p:txBody>
          <a:bodyPr anchor="t" rtlCol="false" tIns="0" lIns="0" bIns="0" rIns="0">
            <a:spAutoFit/>
          </a:bodyPr>
          <a:lstStyle/>
          <a:p>
            <a:pPr algn="ctr">
              <a:lnSpc>
                <a:spcPts val="7760"/>
              </a:lnSpc>
            </a:pPr>
            <a:r>
              <a:rPr lang="en-US" sz="8001">
                <a:solidFill>
                  <a:srgbClr val="003352"/>
                </a:solidFill>
                <a:latin typeface="Times New Roman MT"/>
                <a:ea typeface="Times New Roman MT"/>
                <a:cs typeface="Times New Roman MT"/>
                <a:sym typeface="Times New Roman MT"/>
              </a:rPr>
              <a:t>Introduction</a:t>
            </a:r>
          </a:p>
        </p:txBody>
      </p:sp>
      <p:grpSp>
        <p:nvGrpSpPr>
          <p:cNvPr name="Group 3" id="3"/>
          <p:cNvGrpSpPr/>
          <p:nvPr/>
        </p:nvGrpSpPr>
        <p:grpSpPr>
          <a:xfrm rot="0">
            <a:off x="2342851" y="2439550"/>
            <a:ext cx="12690697" cy="6991434"/>
            <a:chOff x="0" y="0"/>
            <a:chExt cx="3342406" cy="1841365"/>
          </a:xfrm>
        </p:grpSpPr>
        <p:sp>
          <p:nvSpPr>
            <p:cNvPr name="Freeform 4" id="4"/>
            <p:cNvSpPr/>
            <p:nvPr/>
          </p:nvSpPr>
          <p:spPr>
            <a:xfrm flipH="false" flipV="false" rot="0">
              <a:off x="0" y="0"/>
              <a:ext cx="3342406" cy="1841366"/>
            </a:xfrm>
            <a:custGeom>
              <a:avLst/>
              <a:gdLst/>
              <a:ahLst/>
              <a:cxnLst/>
              <a:rect r="r" b="b" t="t" l="l"/>
              <a:pathLst>
                <a:path h="1841366" w="3342406">
                  <a:moveTo>
                    <a:pt x="30884" y="0"/>
                  </a:moveTo>
                  <a:lnTo>
                    <a:pt x="3311522" y="0"/>
                  </a:lnTo>
                  <a:cubicBezTo>
                    <a:pt x="3319713" y="0"/>
                    <a:pt x="3327569" y="3254"/>
                    <a:pt x="3333360" y="9046"/>
                  </a:cubicBezTo>
                  <a:cubicBezTo>
                    <a:pt x="3339152" y="14837"/>
                    <a:pt x="3342406" y="22693"/>
                    <a:pt x="3342406" y="30884"/>
                  </a:cubicBezTo>
                  <a:lnTo>
                    <a:pt x="3342406" y="1810482"/>
                  </a:lnTo>
                  <a:cubicBezTo>
                    <a:pt x="3342406" y="1827538"/>
                    <a:pt x="3328579" y="1841366"/>
                    <a:pt x="3311522" y="1841366"/>
                  </a:cubicBezTo>
                  <a:lnTo>
                    <a:pt x="30884" y="1841366"/>
                  </a:lnTo>
                  <a:cubicBezTo>
                    <a:pt x="22693" y="1841366"/>
                    <a:pt x="14837" y="1838112"/>
                    <a:pt x="9046" y="1832320"/>
                  </a:cubicBezTo>
                  <a:cubicBezTo>
                    <a:pt x="3254" y="1826528"/>
                    <a:pt x="0" y="1818673"/>
                    <a:pt x="0" y="1810482"/>
                  </a:cubicBezTo>
                  <a:lnTo>
                    <a:pt x="0" y="30884"/>
                  </a:lnTo>
                  <a:cubicBezTo>
                    <a:pt x="0" y="22693"/>
                    <a:pt x="3254" y="14837"/>
                    <a:pt x="9046" y="9046"/>
                  </a:cubicBezTo>
                  <a:cubicBezTo>
                    <a:pt x="14837" y="3254"/>
                    <a:pt x="22693" y="0"/>
                    <a:pt x="30884" y="0"/>
                  </a:cubicBezTo>
                  <a:close/>
                </a:path>
              </a:pathLst>
            </a:custGeom>
            <a:solidFill>
              <a:srgbClr val="044A6A"/>
            </a:solidFill>
          </p:spPr>
        </p:sp>
        <p:sp>
          <p:nvSpPr>
            <p:cNvPr name="TextBox 5" id="5"/>
            <p:cNvSpPr txBox="true"/>
            <p:nvPr/>
          </p:nvSpPr>
          <p:spPr>
            <a:xfrm>
              <a:off x="0" y="-38100"/>
              <a:ext cx="3342406" cy="1879465"/>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2812370" y="2840101"/>
            <a:ext cx="11809055" cy="6732014"/>
          </a:xfrm>
          <a:prstGeom prst="rect">
            <a:avLst/>
          </a:prstGeom>
        </p:spPr>
        <p:txBody>
          <a:bodyPr anchor="t" rtlCol="false" tIns="0" lIns="0" bIns="0" rIns="0">
            <a:spAutoFit/>
          </a:bodyPr>
          <a:lstStyle/>
          <a:p>
            <a:pPr algn="just">
              <a:lnSpc>
                <a:spcPts val="3269"/>
              </a:lnSpc>
            </a:pPr>
            <a:r>
              <a:rPr lang="en-US" sz="2335" spc="25">
                <a:solidFill>
                  <a:srgbClr val="FFFFFF"/>
                </a:solidFill>
                <a:latin typeface="Open Sans"/>
                <a:ea typeface="Open Sans"/>
                <a:cs typeface="Open Sans"/>
                <a:sym typeface="Open Sans"/>
              </a:rPr>
              <a:t>Air Aware is a smart, AI-powered web-based system designed to monitor, analyse, and forecast air quality in real time. The platform integrates Machine Learning (ML), modern web technologies, APIs, and databases to deliver accurate Air Quality Index (AQI) predictions to users.</a:t>
            </a:r>
          </a:p>
          <a:p>
            <a:pPr algn="just">
              <a:lnSpc>
                <a:spcPts val="3269"/>
              </a:lnSpc>
            </a:pPr>
            <a:r>
              <a:rPr lang="en-US" sz="2335" spc="25">
                <a:solidFill>
                  <a:srgbClr val="FFFFFF"/>
                </a:solidFill>
                <a:latin typeface="Open Sans"/>
                <a:ea typeface="Open Sans"/>
                <a:cs typeface="Open Sans"/>
                <a:sym typeface="Open Sans"/>
              </a:rPr>
              <a:t>The system processes pollutant data such as PM2.5, PM10, NO2, SO2, CO, and Ozone, collected from datasets (Kaggle, Hugging Face, OpenAQ) and real-time sensors. After processing the input using ML models, Air Aware provides:</a:t>
            </a:r>
          </a:p>
          <a:p>
            <a:pPr algn="just">
              <a:lnSpc>
                <a:spcPts val="3269"/>
              </a:lnSpc>
            </a:pPr>
          </a:p>
          <a:p>
            <a:pPr algn="just">
              <a:lnSpc>
                <a:spcPts val="3619"/>
              </a:lnSpc>
            </a:pPr>
            <a:r>
              <a:rPr lang="en-US" sz="2335" spc="25">
                <a:solidFill>
                  <a:srgbClr val="FFFFFF"/>
                </a:solidFill>
                <a:latin typeface="Open Sans"/>
                <a:ea typeface="Open Sans"/>
                <a:cs typeface="Open Sans"/>
                <a:sym typeface="Open Sans"/>
              </a:rPr>
              <a:t>·Real-time AQI</a:t>
            </a:r>
          </a:p>
          <a:p>
            <a:pPr algn="just">
              <a:lnSpc>
                <a:spcPts val="3619"/>
              </a:lnSpc>
            </a:pPr>
            <a:r>
              <a:rPr lang="en-US" sz="2335" spc="25">
                <a:solidFill>
                  <a:srgbClr val="FFFFFF"/>
                </a:solidFill>
                <a:latin typeface="Open Sans"/>
                <a:ea typeface="Open Sans"/>
                <a:cs typeface="Open Sans"/>
                <a:sym typeface="Open Sans"/>
              </a:rPr>
              <a:t>·Future AQI forecast</a:t>
            </a:r>
          </a:p>
          <a:p>
            <a:pPr algn="just">
              <a:lnSpc>
                <a:spcPts val="3619"/>
              </a:lnSpc>
            </a:pPr>
            <a:r>
              <a:rPr lang="en-US" sz="2335" spc="25">
                <a:solidFill>
                  <a:srgbClr val="FFFFFF"/>
                </a:solidFill>
                <a:latin typeface="Open Sans"/>
                <a:ea typeface="Open Sans"/>
                <a:cs typeface="Open Sans"/>
                <a:sym typeface="Open Sans"/>
              </a:rPr>
              <a:t>·Weather conditions (Sunny, Rainy, Cloudy, etc.)</a:t>
            </a:r>
          </a:p>
          <a:p>
            <a:pPr algn="just">
              <a:lnSpc>
                <a:spcPts val="3619"/>
              </a:lnSpc>
            </a:pPr>
            <a:r>
              <a:rPr lang="en-US" sz="2335" spc="25">
                <a:solidFill>
                  <a:srgbClr val="FFFFFF"/>
                </a:solidFill>
                <a:latin typeface="Open Sans"/>
                <a:ea typeface="Open Sans"/>
                <a:cs typeface="Open Sans"/>
                <a:sym typeface="Open Sans"/>
              </a:rPr>
              <a:t>·Health implications (Safe / Unsafe to inhale)</a:t>
            </a:r>
          </a:p>
          <a:p>
            <a:pPr algn="just">
              <a:lnSpc>
                <a:spcPts val="3269"/>
              </a:lnSpc>
            </a:pPr>
            <a:r>
              <a:rPr lang="en-US" sz="2335" spc="25">
                <a:solidFill>
                  <a:srgbClr val="FFFFFF"/>
                </a:solidFill>
                <a:latin typeface="Open Sans"/>
                <a:ea typeface="Open Sans"/>
                <a:cs typeface="Open Sans"/>
                <a:sym typeface="Open Sans"/>
              </a:rPr>
              <a:t>The goal is to achieve 95–98% model accuracy and provide interactive dashboards for clean and meaningful insights to the user.</a:t>
            </a:r>
          </a:p>
          <a:p>
            <a:pPr algn="just">
              <a:lnSpc>
                <a:spcPts val="3269"/>
              </a:lnSpc>
            </a:pPr>
          </a:p>
          <a:p>
            <a:pPr algn="just">
              <a:lnSpc>
                <a:spcPts val="3269"/>
              </a:lnSpc>
            </a:pPr>
          </a:p>
        </p:txBody>
      </p:sp>
      <p:sp>
        <p:nvSpPr>
          <p:cNvPr name="Freeform 7" id="7"/>
          <p:cNvSpPr/>
          <p:nvPr/>
        </p:nvSpPr>
        <p:spPr>
          <a:xfrm flipH="false" flipV="false" rot="0">
            <a:off x="8262240" y="6110626"/>
            <a:ext cx="10166061" cy="5523560"/>
          </a:xfrm>
          <a:custGeom>
            <a:avLst/>
            <a:gdLst/>
            <a:ahLst/>
            <a:cxnLst/>
            <a:rect r="r" b="b" t="t" l="l"/>
            <a:pathLst>
              <a:path h="5523560" w="10166061">
                <a:moveTo>
                  <a:pt x="0" y="0"/>
                </a:moveTo>
                <a:lnTo>
                  <a:pt x="10166061" y="0"/>
                </a:lnTo>
                <a:lnTo>
                  <a:pt x="10166061" y="5523560"/>
                </a:lnTo>
                <a:lnTo>
                  <a:pt x="0" y="5523560"/>
                </a:lnTo>
                <a:lnTo>
                  <a:pt x="0" y="0"/>
                </a:lnTo>
                <a:close/>
              </a:path>
            </a:pathLst>
          </a:custGeom>
          <a:blipFill>
            <a:blip r:embed="rId2"/>
            <a:stretch>
              <a:fillRect l="0" t="0" r="0" b="0"/>
            </a:stretch>
          </a:blipFill>
        </p:spPr>
      </p:sp>
      <p:sp>
        <p:nvSpPr>
          <p:cNvPr name="Freeform 8" id="8"/>
          <p:cNvSpPr/>
          <p:nvPr/>
        </p:nvSpPr>
        <p:spPr>
          <a:xfrm flipH="false" flipV="false" rot="-3689918">
            <a:off x="-3481942" y="-1490472"/>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4159108" y="-745882"/>
            <a:ext cx="6200384" cy="4114800"/>
          </a:xfrm>
          <a:custGeom>
            <a:avLst/>
            <a:gdLst/>
            <a:ahLst/>
            <a:cxnLst/>
            <a:rect r="r" b="b" t="t" l="l"/>
            <a:pathLst>
              <a:path h="4114800" w="6200384">
                <a:moveTo>
                  <a:pt x="0" y="0"/>
                </a:moveTo>
                <a:lnTo>
                  <a:pt x="6200384" y="0"/>
                </a:lnTo>
                <a:lnTo>
                  <a:pt x="62003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764947" y="6875720"/>
            <a:ext cx="4577317" cy="6822560"/>
          </a:xfrm>
          <a:custGeom>
            <a:avLst/>
            <a:gdLst/>
            <a:ahLst/>
            <a:cxnLst/>
            <a:rect r="r" b="b" t="t" l="l"/>
            <a:pathLst>
              <a:path h="6822560" w="4577317">
                <a:moveTo>
                  <a:pt x="0" y="0"/>
                </a:moveTo>
                <a:lnTo>
                  <a:pt x="4577317" y="0"/>
                </a:lnTo>
                <a:lnTo>
                  <a:pt x="4577317" y="6822560"/>
                </a:lnTo>
                <a:lnTo>
                  <a:pt x="0" y="6822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TextBox 2" id="2"/>
          <p:cNvSpPr txBox="true"/>
          <p:nvPr/>
        </p:nvSpPr>
        <p:spPr>
          <a:xfrm rot="0">
            <a:off x="3885241" y="1385639"/>
            <a:ext cx="10517519" cy="1195706"/>
          </a:xfrm>
          <a:prstGeom prst="rect">
            <a:avLst/>
          </a:prstGeom>
        </p:spPr>
        <p:txBody>
          <a:bodyPr anchor="t" rtlCol="false" tIns="0" lIns="0" bIns="0" rIns="0">
            <a:spAutoFit/>
          </a:bodyPr>
          <a:lstStyle/>
          <a:p>
            <a:pPr algn="ctr">
              <a:lnSpc>
                <a:spcPts val="7760"/>
              </a:lnSpc>
            </a:pPr>
            <a:r>
              <a:rPr lang="en-US" sz="8000">
                <a:solidFill>
                  <a:srgbClr val="003352"/>
                </a:solidFill>
                <a:latin typeface="Times New Roman MT"/>
                <a:ea typeface="Times New Roman MT"/>
                <a:cs typeface="Times New Roman MT"/>
                <a:sym typeface="Times New Roman MT"/>
              </a:rPr>
              <a:t>Project Objectives</a:t>
            </a:r>
          </a:p>
        </p:txBody>
      </p:sp>
      <p:grpSp>
        <p:nvGrpSpPr>
          <p:cNvPr name="Group 3" id="3"/>
          <p:cNvGrpSpPr/>
          <p:nvPr/>
        </p:nvGrpSpPr>
        <p:grpSpPr>
          <a:xfrm rot="0">
            <a:off x="5075720" y="3046560"/>
            <a:ext cx="8269550" cy="5452230"/>
            <a:chOff x="0" y="0"/>
            <a:chExt cx="2177989" cy="1435978"/>
          </a:xfrm>
        </p:grpSpPr>
        <p:sp>
          <p:nvSpPr>
            <p:cNvPr name="Freeform 4" id="4"/>
            <p:cNvSpPr/>
            <p:nvPr/>
          </p:nvSpPr>
          <p:spPr>
            <a:xfrm flipH="false" flipV="false" rot="0">
              <a:off x="0" y="0"/>
              <a:ext cx="2177989" cy="1435978"/>
            </a:xfrm>
            <a:custGeom>
              <a:avLst/>
              <a:gdLst/>
              <a:ahLst/>
              <a:cxnLst/>
              <a:rect r="r" b="b" t="t" l="l"/>
              <a:pathLst>
                <a:path h="1435978" w="2177989">
                  <a:moveTo>
                    <a:pt x="47395" y="0"/>
                  </a:moveTo>
                  <a:lnTo>
                    <a:pt x="2130594" y="0"/>
                  </a:lnTo>
                  <a:cubicBezTo>
                    <a:pt x="2156769" y="0"/>
                    <a:pt x="2177989" y="21219"/>
                    <a:pt x="2177989" y="47395"/>
                  </a:cubicBezTo>
                  <a:lnTo>
                    <a:pt x="2177989" y="1388583"/>
                  </a:lnTo>
                  <a:cubicBezTo>
                    <a:pt x="2177989" y="1401153"/>
                    <a:pt x="2172995" y="1413208"/>
                    <a:pt x="2164107" y="1422097"/>
                  </a:cubicBezTo>
                  <a:cubicBezTo>
                    <a:pt x="2155219" y="1430985"/>
                    <a:pt x="2143164" y="1435978"/>
                    <a:pt x="2130594" y="1435978"/>
                  </a:cubicBezTo>
                  <a:lnTo>
                    <a:pt x="47395" y="1435978"/>
                  </a:lnTo>
                  <a:cubicBezTo>
                    <a:pt x="34825" y="1435978"/>
                    <a:pt x="22770" y="1430985"/>
                    <a:pt x="13882" y="1422097"/>
                  </a:cubicBezTo>
                  <a:cubicBezTo>
                    <a:pt x="4993" y="1413208"/>
                    <a:pt x="0" y="1401153"/>
                    <a:pt x="0" y="1388583"/>
                  </a:cubicBezTo>
                  <a:lnTo>
                    <a:pt x="0" y="47395"/>
                  </a:lnTo>
                  <a:cubicBezTo>
                    <a:pt x="0" y="34825"/>
                    <a:pt x="4993" y="22770"/>
                    <a:pt x="13882" y="13882"/>
                  </a:cubicBezTo>
                  <a:cubicBezTo>
                    <a:pt x="22770" y="4993"/>
                    <a:pt x="34825" y="0"/>
                    <a:pt x="47395" y="0"/>
                  </a:cubicBezTo>
                  <a:close/>
                </a:path>
              </a:pathLst>
            </a:custGeom>
            <a:solidFill>
              <a:srgbClr val="044A6A"/>
            </a:solidFill>
          </p:spPr>
        </p:sp>
        <p:sp>
          <p:nvSpPr>
            <p:cNvPr name="TextBox 5" id="5"/>
            <p:cNvSpPr txBox="true"/>
            <p:nvPr/>
          </p:nvSpPr>
          <p:spPr>
            <a:xfrm>
              <a:off x="0" y="-38100"/>
              <a:ext cx="2177989" cy="1474078"/>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5980945" y="3591781"/>
            <a:ext cx="6326110" cy="4022101"/>
          </a:xfrm>
          <a:prstGeom prst="rect">
            <a:avLst/>
          </a:prstGeom>
        </p:spPr>
        <p:txBody>
          <a:bodyPr anchor="t" rtlCol="false" tIns="0" lIns="0" bIns="0" rIns="0">
            <a:spAutoFit/>
          </a:bodyPr>
          <a:lstStyle/>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Monitor pollution levels efficiently</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Provide real-time &amp; historical air quality insights</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Offer a clean, responsive dashboard</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Support data export &amp; future ML model integration</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Build a scalable backend API using Flask</a:t>
            </a:r>
          </a:p>
          <a:p>
            <a:pPr algn="l">
              <a:lnSpc>
                <a:spcPts val="3534"/>
              </a:lnSpc>
            </a:pPr>
          </a:p>
        </p:txBody>
      </p:sp>
      <p:sp>
        <p:nvSpPr>
          <p:cNvPr name="Freeform 7" id="7"/>
          <p:cNvSpPr/>
          <p:nvPr/>
        </p:nvSpPr>
        <p:spPr>
          <a:xfrm flipH="false" flipV="false" rot="0">
            <a:off x="8262240" y="6110626"/>
            <a:ext cx="10166061" cy="5523560"/>
          </a:xfrm>
          <a:custGeom>
            <a:avLst/>
            <a:gdLst/>
            <a:ahLst/>
            <a:cxnLst/>
            <a:rect r="r" b="b" t="t" l="l"/>
            <a:pathLst>
              <a:path h="5523560" w="10166061">
                <a:moveTo>
                  <a:pt x="0" y="0"/>
                </a:moveTo>
                <a:lnTo>
                  <a:pt x="10166061" y="0"/>
                </a:lnTo>
                <a:lnTo>
                  <a:pt x="10166061" y="5523560"/>
                </a:lnTo>
                <a:lnTo>
                  <a:pt x="0" y="5523560"/>
                </a:lnTo>
                <a:lnTo>
                  <a:pt x="0" y="0"/>
                </a:lnTo>
                <a:close/>
              </a:path>
            </a:pathLst>
          </a:custGeom>
          <a:blipFill>
            <a:blip r:embed="rId2"/>
            <a:stretch>
              <a:fillRect l="0" t="0" r="0" b="0"/>
            </a:stretch>
          </a:blipFill>
        </p:spPr>
      </p:sp>
      <p:sp>
        <p:nvSpPr>
          <p:cNvPr name="Freeform 8" id="8"/>
          <p:cNvSpPr/>
          <p:nvPr/>
        </p:nvSpPr>
        <p:spPr>
          <a:xfrm flipH="false" flipV="false" rot="-3689918">
            <a:off x="-3481942" y="-1490472"/>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4159108" y="-745882"/>
            <a:ext cx="6200384" cy="4114800"/>
          </a:xfrm>
          <a:custGeom>
            <a:avLst/>
            <a:gdLst/>
            <a:ahLst/>
            <a:cxnLst/>
            <a:rect r="r" b="b" t="t" l="l"/>
            <a:pathLst>
              <a:path h="4114800" w="6200384">
                <a:moveTo>
                  <a:pt x="0" y="0"/>
                </a:moveTo>
                <a:lnTo>
                  <a:pt x="6200384" y="0"/>
                </a:lnTo>
                <a:lnTo>
                  <a:pt x="62003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764947" y="6875720"/>
            <a:ext cx="4577317" cy="6822560"/>
          </a:xfrm>
          <a:custGeom>
            <a:avLst/>
            <a:gdLst/>
            <a:ahLst/>
            <a:cxnLst/>
            <a:rect r="r" b="b" t="t" l="l"/>
            <a:pathLst>
              <a:path h="6822560" w="4577317">
                <a:moveTo>
                  <a:pt x="0" y="0"/>
                </a:moveTo>
                <a:lnTo>
                  <a:pt x="4577317" y="0"/>
                </a:lnTo>
                <a:lnTo>
                  <a:pt x="4577317" y="6822560"/>
                </a:lnTo>
                <a:lnTo>
                  <a:pt x="0" y="6822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TextBox 2" id="2"/>
          <p:cNvSpPr txBox="true"/>
          <p:nvPr/>
        </p:nvSpPr>
        <p:spPr>
          <a:xfrm rot="0">
            <a:off x="4038741" y="665566"/>
            <a:ext cx="10633065" cy="2176781"/>
          </a:xfrm>
          <a:prstGeom prst="rect">
            <a:avLst/>
          </a:prstGeom>
        </p:spPr>
        <p:txBody>
          <a:bodyPr anchor="t" rtlCol="false" tIns="0" lIns="0" bIns="0" rIns="0">
            <a:spAutoFit/>
          </a:bodyPr>
          <a:lstStyle/>
          <a:p>
            <a:pPr algn="ctr">
              <a:lnSpc>
                <a:spcPts val="7760"/>
              </a:lnSpc>
            </a:pPr>
            <a:r>
              <a:rPr lang="en-US" sz="8000">
                <a:solidFill>
                  <a:srgbClr val="003352"/>
                </a:solidFill>
                <a:latin typeface="Times New Roman MT"/>
                <a:ea typeface="Times New Roman MT"/>
                <a:cs typeface="Times New Roman MT"/>
                <a:sym typeface="Times New Roman MT"/>
              </a:rPr>
              <a:t>Frontend Overview and Features</a:t>
            </a:r>
          </a:p>
        </p:txBody>
      </p:sp>
      <p:grpSp>
        <p:nvGrpSpPr>
          <p:cNvPr name="Group 3" id="3"/>
          <p:cNvGrpSpPr/>
          <p:nvPr/>
        </p:nvGrpSpPr>
        <p:grpSpPr>
          <a:xfrm rot="0">
            <a:off x="9355274" y="3349869"/>
            <a:ext cx="8170628" cy="4997844"/>
            <a:chOff x="0" y="0"/>
            <a:chExt cx="2151935" cy="1316305"/>
          </a:xfrm>
        </p:grpSpPr>
        <p:sp>
          <p:nvSpPr>
            <p:cNvPr name="Freeform 4" id="4"/>
            <p:cNvSpPr/>
            <p:nvPr/>
          </p:nvSpPr>
          <p:spPr>
            <a:xfrm flipH="false" flipV="false" rot="0">
              <a:off x="0" y="0"/>
              <a:ext cx="2151935" cy="1316305"/>
            </a:xfrm>
            <a:custGeom>
              <a:avLst/>
              <a:gdLst/>
              <a:ahLst/>
              <a:cxnLst/>
              <a:rect r="r" b="b" t="t" l="l"/>
              <a:pathLst>
                <a:path h="1316305" w="2151935">
                  <a:moveTo>
                    <a:pt x="47969" y="0"/>
                  </a:moveTo>
                  <a:lnTo>
                    <a:pt x="2103966" y="0"/>
                  </a:lnTo>
                  <a:cubicBezTo>
                    <a:pt x="2130459" y="0"/>
                    <a:pt x="2151935" y="21476"/>
                    <a:pt x="2151935" y="47969"/>
                  </a:cubicBezTo>
                  <a:lnTo>
                    <a:pt x="2151935" y="1268336"/>
                  </a:lnTo>
                  <a:cubicBezTo>
                    <a:pt x="2151935" y="1294828"/>
                    <a:pt x="2130459" y="1316305"/>
                    <a:pt x="2103966" y="1316305"/>
                  </a:cubicBezTo>
                  <a:lnTo>
                    <a:pt x="47969" y="1316305"/>
                  </a:lnTo>
                  <a:cubicBezTo>
                    <a:pt x="21476" y="1316305"/>
                    <a:pt x="0" y="1294828"/>
                    <a:pt x="0" y="1268336"/>
                  </a:cubicBezTo>
                  <a:lnTo>
                    <a:pt x="0" y="47969"/>
                  </a:lnTo>
                  <a:cubicBezTo>
                    <a:pt x="0" y="21476"/>
                    <a:pt x="21476" y="0"/>
                    <a:pt x="47969" y="0"/>
                  </a:cubicBezTo>
                  <a:close/>
                </a:path>
              </a:pathLst>
            </a:custGeom>
            <a:solidFill>
              <a:srgbClr val="044A6A"/>
            </a:solidFill>
          </p:spPr>
        </p:sp>
        <p:sp>
          <p:nvSpPr>
            <p:cNvPr name="TextBox 5" id="5"/>
            <p:cNvSpPr txBox="true"/>
            <p:nvPr/>
          </p:nvSpPr>
          <p:spPr>
            <a:xfrm>
              <a:off x="0" y="-38100"/>
              <a:ext cx="2151935" cy="1354405"/>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9659820" y="3721218"/>
            <a:ext cx="8091407" cy="4140846"/>
          </a:xfrm>
          <a:prstGeom prst="rect">
            <a:avLst/>
          </a:prstGeom>
        </p:spPr>
        <p:txBody>
          <a:bodyPr anchor="t" rtlCol="false" tIns="0" lIns="0" bIns="0" rIns="0">
            <a:spAutoFit/>
          </a:bodyPr>
          <a:lstStyle/>
          <a:p>
            <a:pPr algn="ctr">
              <a:lnSpc>
                <a:spcPts val="4094"/>
              </a:lnSpc>
            </a:pPr>
            <a:r>
              <a:rPr lang="en-US" sz="2924" spc="32">
                <a:solidFill>
                  <a:srgbClr val="FFFFFF"/>
                </a:solidFill>
                <a:latin typeface="Times New Roman MT"/>
                <a:ea typeface="Times New Roman MT"/>
                <a:cs typeface="Times New Roman MT"/>
                <a:sym typeface="Times New Roman MT"/>
              </a:rPr>
              <a:t>Overview</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Developed using HTML, CSS, JavaScript</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Fully responsive layout</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Real-time AQI dashboard</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Charts to visualize pollutant trends</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Filters: city, date range, pollutant type</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Intuitive UI suitable for mobile and desktop</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Modular and reusable components</a:t>
            </a:r>
          </a:p>
          <a:p>
            <a:pPr algn="l">
              <a:lnSpc>
                <a:spcPts val="3534"/>
              </a:lnSpc>
            </a:pPr>
          </a:p>
        </p:txBody>
      </p:sp>
      <p:sp>
        <p:nvSpPr>
          <p:cNvPr name="Freeform 7" id="7"/>
          <p:cNvSpPr/>
          <p:nvPr/>
        </p:nvSpPr>
        <p:spPr>
          <a:xfrm flipH="false" flipV="false" rot="0">
            <a:off x="9076078" y="6875720"/>
            <a:ext cx="10166061" cy="5523560"/>
          </a:xfrm>
          <a:custGeom>
            <a:avLst/>
            <a:gdLst/>
            <a:ahLst/>
            <a:cxnLst/>
            <a:rect r="r" b="b" t="t" l="l"/>
            <a:pathLst>
              <a:path h="5523560" w="10166061">
                <a:moveTo>
                  <a:pt x="0" y="0"/>
                </a:moveTo>
                <a:lnTo>
                  <a:pt x="10166061" y="0"/>
                </a:lnTo>
                <a:lnTo>
                  <a:pt x="10166061" y="5523560"/>
                </a:lnTo>
                <a:lnTo>
                  <a:pt x="0" y="5523560"/>
                </a:lnTo>
                <a:lnTo>
                  <a:pt x="0" y="0"/>
                </a:lnTo>
                <a:close/>
              </a:path>
            </a:pathLst>
          </a:custGeom>
          <a:blipFill>
            <a:blip r:embed="rId2"/>
            <a:stretch>
              <a:fillRect l="0" t="0" r="0" b="0"/>
            </a:stretch>
          </a:blipFill>
        </p:spPr>
      </p:sp>
      <p:sp>
        <p:nvSpPr>
          <p:cNvPr name="Freeform 8" id="8"/>
          <p:cNvSpPr/>
          <p:nvPr/>
        </p:nvSpPr>
        <p:spPr>
          <a:xfrm flipH="false" flipV="false" rot="-3689918">
            <a:off x="-3481942" y="-1490472"/>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341377" y="-1728604"/>
            <a:ext cx="6200384" cy="4114800"/>
          </a:xfrm>
          <a:custGeom>
            <a:avLst/>
            <a:gdLst/>
            <a:ahLst/>
            <a:cxnLst/>
            <a:rect r="r" b="b" t="t" l="l"/>
            <a:pathLst>
              <a:path h="4114800" w="6200384">
                <a:moveTo>
                  <a:pt x="0" y="0"/>
                </a:moveTo>
                <a:lnTo>
                  <a:pt x="6200383" y="0"/>
                </a:lnTo>
                <a:lnTo>
                  <a:pt x="6200383"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764947" y="6875720"/>
            <a:ext cx="4577317" cy="6822560"/>
          </a:xfrm>
          <a:custGeom>
            <a:avLst/>
            <a:gdLst/>
            <a:ahLst/>
            <a:cxnLst/>
            <a:rect r="r" b="b" t="t" l="l"/>
            <a:pathLst>
              <a:path h="6822560" w="4577317">
                <a:moveTo>
                  <a:pt x="0" y="0"/>
                </a:moveTo>
                <a:lnTo>
                  <a:pt x="4577317" y="0"/>
                </a:lnTo>
                <a:lnTo>
                  <a:pt x="4577317" y="6822560"/>
                </a:lnTo>
                <a:lnTo>
                  <a:pt x="0" y="6822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1" id="11"/>
          <p:cNvGrpSpPr/>
          <p:nvPr/>
        </p:nvGrpSpPr>
        <p:grpSpPr>
          <a:xfrm rot="0">
            <a:off x="1028700" y="3349869"/>
            <a:ext cx="7405634" cy="4997844"/>
            <a:chOff x="0" y="0"/>
            <a:chExt cx="1950455" cy="1316305"/>
          </a:xfrm>
        </p:grpSpPr>
        <p:sp>
          <p:nvSpPr>
            <p:cNvPr name="Freeform 12" id="12"/>
            <p:cNvSpPr/>
            <p:nvPr/>
          </p:nvSpPr>
          <p:spPr>
            <a:xfrm flipH="false" flipV="false" rot="0">
              <a:off x="0" y="0"/>
              <a:ext cx="1950455" cy="1316305"/>
            </a:xfrm>
            <a:custGeom>
              <a:avLst/>
              <a:gdLst/>
              <a:ahLst/>
              <a:cxnLst/>
              <a:rect r="r" b="b" t="t" l="l"/>
              <a:pathLst>
                <a:path h="1316305" w="1950455">
                  <a:moveTo>
                    <a:pt x="52924" y="0"/>
                  </a:moveTo>
                  <a:lnTo>
                    <a:pt x="1897531" y="0"/>
                  </a:lnTo>
                  <a:cubicBezTo>
                    <a:pt x="1926760" y="0"/>
                    <a:pt x="1950455" y="23695"/>
                    <a:pt x="1950455" y="52924"/>
                  </a:cubicBezTo>
                  <a:lnTo>
                    <a:pt x="1950455" y="1263381"/>
                  </a:lnTo>
                  <a:cubicBezTo>
                    <a:pt x="1950455" y="1292610"/>
                    <a:pt x="1926760" y="1316305"/>
                    <a:pt x="1897531" y="1316305"/>
                  </a:cubicBezTo>
                  <a:lnTo>
                    <a:pt x="52924" y="1316305"/>
                  </a:lnTo>
                  <a:cubicBezTo>
                    <a:pt x="38888" y="1316305"/>
                    <a:pt x="25426" y="1310729"/>
                    <a:pt x="15501" y="1300804"/>
                  </a:cubicBezTo>
                  <a:cubicBezTo>
                    <a:pt x="5576" y="1290878"/>
                    <a:pt x="0" y="1277417"/>
                    <a:pt x="0" y="1263381"/>
                  </a:cubicBezTo>
                  <a:lnTo>
                    <a:pt x="0" y="52924"/>
                  </a:lnTo>
                  <a:cubicBezTo>
                    <a:pt x="0" y="23695"/>
                    <a:pt x="23695" y="0"/>
                    <a:pt x="52924" y="0"/>
                  </a:cubicBezTo>
                  <a:close/>
                </a:path>
              </a:pathLst>
            </a:custGeom>
            <a:solidFill>
              <a:srgbClr val="044A6A"/>
            </a:solidFill>
          </p:spPr>
        </p:sp>
        <p:sp>
          <p:nvSpPr>
            <p:cNvPr name="TextBox 13" id="13"/>
            <p:cNvSpPr txBox="true"/>
            <p:nvPr/>
          </p:nvSpPr>
          <p:spPr>
            <a:xfrm>
              <a:off x="0" y="-38100"/>
              <a:ext cx="1950455" cy="1354405"/>
            </a:xfrm>
            <a:prstGeom prst="rect">
              <a:avLst/>
            </a:prstGeom>
          </p:spPr>
          <p:txBody>
            <a:bodyPr anchor="ctr" rtlCol="false" tIns="50800" lIns="50800" bIns="50800" rIns="50800"/>
            <a:lstStyle/>
            <a:p>
              <a:pPr algn="ctr">
                <a:lnSpc>
                  <a:spcPts val="2659"/>
                </a:lnSpc>
                <a:spcBef>
                  <a:spcPct val="0"/>
                </a:spcBef>
              </a:pPr>
            </a:p>
          </p:txBody>
        </p:sp>
      </p:grpSp>
      <p:sp>
        <p:nvSpPr>
          <p:cNvPr name="TextBox 14" id="14"/>
          <p:cNvSpPr txBox="true"/>
          <p:nvPr/>
        </p:nvSpPr>
        <p:spPr>
          <a:xfrm rot="0">
            <a:off x="1193858" y="3910833"/>
            <a:ext cx="6823647" cy="3221673"/>
          </a:xfrm>
          <a:prstGeom prst="rect">
            <a:avLst/>
          </a:prstGeom>
        </p:spPr>
        <p:txBody>
          <a:bodyPr anchor="t" rtlCol="false" tIns="0" lIns="0" bIns="0" rIns="0">
            <a:spAutoFit/>
          </a:bodyPr>
          <a:lstStyle/>
          <a:p>
            <a:pPr algn="ctr">
              <a:lnSpc>
                <a:spcPts val="4889"/>
              </a:lnSpc>
            </a:pPr>
            <a:r>
              <a:rPr lang="en-US" sz="2999">
                <a:solidFill>
                  <a:srgbClr val="FFFFFF"/>
                </a:solidFill>
                <a:latin typeface="Times New Roman MT"/>
                <a:ea typeface="Times New Roman MT"/>
                <a:cs typeface="Times New Roman MT"/>
                <a:sym typeface="Times New Roman MT"/>
              </a:rPr>
              <a:t>Features</a:t>
            </a:r>
          </a:p>
          <a:p>
            <a:pPr algn="just" marL="539749" indent="-269875" lvl="1">
              <a:lnSpc>
                <a:spcPts val="4074"/>
              </a:lnSpc>
              <a:buFont typeface="Arial"/>
              <a:buChar char="•"/>
            </a:pPr>
            <a:r>
              <a:rPr lang="en-US" sz="2499">
                <a:solidFill>
                  <a:srgbClr val="FFFFFF"/>
                </a:solidFill>
                <a:latin typeface="Open Sans"/>
                <a:ea typeface="Open Sans"/>
                <a:cs typeface="Open Sans"/>
                <a:sym typeface="Open Sans"/>
              </a:rPr>
              <a:t>Color-coded AQI indicators</a:t>
            </a:r>
          </a:p>
          <a:p>
            <a:pPr algn="just" marL="539749" indent="-269875" lvl="1">
              <a:lnSpc>
                <a:spcPts val="4074"/>
              </a:lnSpc>
              <a:buFont typeface="Arial"/>
              <a:buChar char="•"/>
            </a:pPr>
            <a:r>
              <a:rPr lang="en-US" sz="2499">
                <a:solidFill>
                  <a:srgbClr val="FFFFFF"/>
                </a:solidFill>
                <a:latin typeface="Open Sans"/>
                <a:ea typeface="Open Sans"/>
                <a:cs typeface="Open Sans"/>
                <a:sym typeface="Open Sans"/>
              </a:rPr>
              <a:t>Line charts for pollutant trends</a:t>
            </a:r>
          </a:p>
          <a:p>
            <a:pPr algn="just" marL="539749" indent="-269875" lvl="1">
              <a:lnSpc>
                <a:spcPts val="4074"/>
              </a:lnSpc>
              <a:buFont typeface="Arial"/>
              <a:buChar char="•"/>
            </a:pPr>
            <a:r>
              <a:rPr lang="en-US" sz="2499">
                <a:solidFill>
                  <a:srgbClr val="FFFFFF"/>
                </a:solidFill>
                <a:latin typeface="Open Sans"/>
                <a:ea typeface="Open Sans"/>
                <a:cs typeface="Open Sans"/>
                <a:sym typeface="Open Sans"/>
              </a:rPr>
              <a:t>Table for live pollutant readings</a:t>
            </a:r>
          </a:p>
          <a:p>
            <a:pPr algn="just" marL="539749" indent="-269875" lvl="1">
              <a:lnSpc>
                <a:spcPts val="4074"/>
              </a:lnSpc>
              <a:buFont typeface="Arial"/>
              <a:buChar char="•"/>
            </a:pPr>
            <a:r>
              <a:rPr lang="en-US" sz="2499">
                <a:solidFill>
                  <a:srgbClr val="FFFFFF"/>
                </a:solidFill>
                <a:latin typeface="Open Sans"/>
                <a:ea typeface="Open Sans"/>
                <a:cs typeface="Open Sans"/>
                <a:sym typeface="Open Sans"/>
              </a:rPr>
              <a:t>Auto-refresh mechanism for updated data</a:t>
            </a:r>
          </a:p>
          <a:p>
            <a:pPr algn="just" marL="539749" indent="-269875" lvl="1">
              <a:lnSpc>
                <a:spcPts val="4074"/>
              </a:lnSpc>
              <a:buFont typeface="Arial"/>
              <a:buChar char="•"/>
            </a:pPr>
            <a:r>
              <a:rPr lang="en-US" sz="2499">
                <a:solidFill>
                  <a:srgbClr val="FFFFFF"/>
                </a:solidFill>
                <a:latin typeface="Open Sans"/>
                <a:ea typeface="Open Sans"/>
                <a:cs typeface="Open Sans"/>
                <a:sym typeface="Open Sans"/>
              </a:rPr>
              <a:t>Error handling for missing API data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TextBox 2" id="2"/>
          <p:cNvSpPr txBox="true"/>
          <p:nvPr/>
        </p:nvSpPr>
        <p:spPr>
          <a:xfrm rot="0">
            <a:off x="4754245" y="723190"/>
            <a:ext cx="9204202" cy="1195706"/>
          </a:xfrm>
          <a:prstGeom prst="rect">
            <a:avLst/>
          </a:prstGeom>
        </p:spPr>
        <p:txBody>
          <a:bodyPr anchor="t" rtlCol="false" tIns="0" lIns="0" bIns="0" rIns="0">
            <a:spAutoFit/>
          </a:bodyPr>
          <a:lstStyle/>
          <a:p>
            <a:pPr algn="ctr">
              <a:lnSpc>
                <a:spcPts val="7760"/>
              </a:lnSpc>
            </a:pPr>
            <a:r>
              <a:rPr lang="en-US" sz="8000">
                <a:solidFill>
                  <a:srgbClr val="003352"/>
                </a:solidFill>
                <a:latin typeface="Times New Roman MT"/>
                <a:ea typeface="Times New Roman MT"/>
                <a:cs typeface="Times New Roman MT"/>
                <a:sym typeface="Times New Roman MT"/>
              </a:rPr>
              <a:t>Backend Overview</a:t>
            </a:r>
          </a:p>
        </p:txBody>
      </p:sp>
      <p:grpSp>
        <p:nvGrpSpPr>
          <p:cNvPr name="Group 3" id="3"/>
          <p:cNvGrpSpPr/>
          <p:nvPr/>
        </p:nvGrpSpPr>
        <p:grpSpPr>
          <a:xfrm rot="0">
            <a:off x="4623257" y="2797066"/>
            <a:ext cx="9041487" cy="5462321"/>
            <a:chOff x="0" y="0"/>
            <a:chExt cx="2381297" cy="1438636"/>
          </a:xfrm>
        </p:grpSpPr>
        <p:sp>
          <p:nvSpPr>
            <p:cNvPr name="Freeform 4" id="4"/>
            <p:cNvSpPr/>
            <p:nvPr/>
          </p:nvSpPr>
          <p:spPr>
            <a:xfrm flipH="false" flipV="false" rot="0">
              <a:off x="0" y="0"/>
              <a:ext cx="2381297" cy="1438636"/>
            </a:xfrm>
            <a:custGeom>
              <a:avLst/>
              <a:gdLst/>
              <a:ahLst/>
              <a:cxnLst/>
              <a:rect r="r" b="b" t="t" l="l"/>
              <a:pathLst>
                <a:path h="1438636" w="2381297">
                  <a:moveTo>
                    <a:pt x="43348" y="0"/>
                  </a:moveTo>
                  <a:lnTo>
                    <a:pt x="2337948" y="0"/>
                  </a:lnTo>
                  <a:cubicBezTo>
                    <a:pt x="2349445" y="0"/>
                    <a:pt x="2360471" y="4567"/>
                    <a:pt x="2368600" y="12696"/>
                  </a:cubicBezTo>
                  <a:cubicBezTo>
                    <a:pt x="2376730" y="20826"/>
                    <a:pt x="2381297" y="31852"/>
                    <a:pt x="2381297" y="43348"/>
                  </a:cubicBezTo>
                  <a:lnTo>
                    <a:pt x="2381297" y="1395288"/>
                  </a:lnTo>
                  <a:cubicBezTo>
                    <a:pt x="2381297" y="1406784"/>
                    <a:pt x="2376730" y="1417810"/>
                    <a:pt x="2368600" y="1425940"/>
                  </a:cubicBezTo>
                  <a:cubicBezTo>
                    <a:pt x="2360471" y="1434069"/>
                    <a:pt x="2349445" y="1438636"/>
                    <a:pt x="2337948" y="1438636"/>
                  </a:cubicBezTo>
                  <a:lnTo>
                    <a:pt x="43348" y="1438636"/>
                  </a:lnTo>
                  <a:cubicBezTo>
                    <a:pt x="31852" y="1438636"/>
                    <a:pt x="20826" y="1434069"/>
                    <a:pt x="12696" y="1425940"/>
                  </a:cubicBezTo>
                  <a:cubicBezTo>
                    <a:pt x="4567" y="1417810"/>
                    <a:pt x="0" y="1406784"/>
                    <a:pt x="0" y="1395288"/>
                  </a:cubicBezTo>
                  <a:lnTo>
                    <a:pt x="0" y="43348"/>
                  </a:lnTo>
                  <a:cubicBezTo>
                    <a:pt x="0" y="31852"/>
                    <a:pt x="4567" y="20826"/>
                    <a:pt x="12696" y="12696"/>
                  </a:cubicBezTo>
                  <a:cubicBezTo>
                    <a:pt x="20826" y="4567"/>
                    <a:pt x="31852" y="0"/>
                    <a:pt x="43348" y="0"/>
                  </a:cubicBezTo>
                  <a:close/>
                </a:path>
              </a:pathLst>
            </a:custGeom>
            <a:solidFill>
              <a:srgbClr val="044A6A"/>
            </a:solidFill>
          </p:spPr>
        </p:sp>
        <p:sp>
          <p:nvSpPr>
            <p:cNvPr name="TextBox 5" id="5"/>
            <p:cNvSpPr txBox="true"/>
            <p:nvPr/>
          </p:nvSpPr>
          <p:spPr>
            <a:xfrm>
              <a:off x="0" y="-38100"/>
              <a:ext cx="2381297" cy="1476736"/>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5098296" y="3822544"/>
            <a:ext cx="8091407" cy="3574426"/>
          </a:xfrm>
          <a:prstGeom prst="rect">
            <a:avLst/>
          </a:prstGeom>
        </p:spPr>
        <p:txBody>
          <a:bodyPr anchor="t" rtlCol="false" tIns="0" lIns="0" bIns="0" rIns="0">
            <a:spAutoFit/>
          </a:bodyPr>
          <a:lstStyle/>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Backend developed in Python (Flask)</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Processes raw CSV dataset</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Cleans null values &amp; converts datatypes</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Generates API endpoints (/data, /cities, /filter)</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Handles date-range filtering</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Optimized for fast responses</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Supports integration with future ML model</a:t>
            </a:r>
          </a:p>
          <a:p>
            <a:pPr algn="l">
              <a:lnSpc>
                <a:spcPts val="3534"/>
              </a:lnSpc>
            </a:pPr>
          </a:p>
        </p:txBody>
      </p:sp>
      <p:sp>
        <p:nvSpPr>
          <p:cNvPr name="Freeform 7" id="7"/>
          <p:cNvSpPr/>
          <p:nvPr/>
        </p:nvSpPr>
        <p:spPr>
          <a:xfrm flipH="false" flipV="false" rot="0">
            <a:off x="8262240" y="6110626"/>
            <a:ext cx="10166061" cy="5523560"/>
          </a:xfrm>
          <a:custGeom>
            <a:avLst/>
            <a:gdLst/>
            <a:ahLst/>
            <a:cxnLst/>
            <a:rect r="r" b="b" t="t" l="l"/>
            <a:pathLst>
              <a:path h="5523560" w="10166061">
                <a:moveTo>
                  <a:pt x="0" y="0"/>
                </a:moveTo>
                <a:lnTo>
                  <a:pt x="10166061" y="0"/>
                </a:lnTo>
                <a:lnTo>
                  <a:pt x="10166061" y="5523560"/>
                </a:lnTo>
                <a:lnTo>
                  <a:pt x="0" y="5523560"/>
                </a:lnTo>
                <a:lnTo>
                  <a:pt x="0" y="0"/>
                </a:lnTo>
                <a:close/>
              </a:path>
            </a:pathLst>
          </a:custGeom>
          <a:blipFill>
            <a:blip r:embed="rId2"/>
            <a:stretch>
              <a:fillRect l="0" t="0" r="0" b="0"/>
            </a:stretch>
          </a:blipFill>
        </p:spPr>
      </p:sp>
      <p:sp>
        <p:nvSpPr>
          <p:cNvPr name="Freeform 8" id="8"/>
          <p:cNvSpPr/>
          <p:nvPr/>
        </p:nvSpPr>
        <p:spPr>
          <a:xfrm flipH="false" flipV="false" rot="-3689918">
            <a:off x="-3481942" y="-1490472"/>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4159108" y="-745882"/>
            <a:ext cx="6200384" cy="4114800"/>
          </a:xfrm>
          <a:custGeom>
            <a:avLst/>
            <a:gdLst/>
            <a:ahLst/>
            <a:cxnLst/>
            <a:rect r="r" b="b" t="t" l="l"/>
            <a:pathLst>
              <a:path h="4114800" w="6200384">
                <a:moveTo>
                  <a:pt x="0" y="0"/>
                </a:moveTo>
                <a:lnTo>
                  <a:pt x="6200384" y="0"/>
                </a:lnTo>
                <a:lnTo>
                  <a:pt x="62003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764947" y="6875720"/>
            <a:ext cx="4577317" cy="6822560"/>
          </a:xfrm>
          <a:custGeom>
            <a:avLst/>
            <a:gdLst/>
            <a:ahLst/>
            <a:cxnLst/>
            <a:rect r="r" b="b" t="t" l="l"/>
            <a:pathLst>
              <a:path h="6822560" w="4577317">
                <a:moveTo>
                  <a:pt x="0" y="0"/>
                </a:moveTo>
                <a:lnTo>
                  <a:pt x="4577317" y="0"/>
                </a:lnTo>
                <a:lnTo>
                  <a:pt x="4577317" y="6822560"/>
                </a:lnTo>
                <a:lnTo>
                  <a:pt x="0" y="6822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TextBox 2" id="2"/>
          <p:cNvSpPr txBox="true"/>
          <p:nvPr/>
        </p:nvSpPr>
        <p:spPr>
          <a:xfrm rot="0">
            <a:off x="5804041" y="723190"/>
            <a:ext cx="6545941" cy="1195706"/>
          </a:xfrm>
          <a:prstGeom prst="rect">
            <a:avLst/>
          </a:prstGeom>
        </p:spPr>
        <p:txBody>
          <a:bodyPr anchor="t" rtlCol="false" tIns="0" lIns="0" bIns="0" rIns="0">
            <a:spAutoFit/>
          </a:bodyPr>
          <a:lstStyle/>
          <a:p>
            <a:pPr algn="ctr">
              <a:lnSpc>
                <a:spcPts val="7760"/>
              </a:lnSpc>
            </a:pPr>
            <a:r>
              <a:rPr lang="en-US" sz="8000">
                <a:solidFill>
                  <a:srgbClr val="003352"/>
                </a:solidFill>
                <a:latin typeface="Times New Roman MT"/>
                <a:ea typeface="Times New Roman MT"/>
                <a:cs typeface="Times New Roman MT"/>
                <a:sym typeface="Times New Roman MT"/>
              </a:rPr>
              <a:t>Dataset Used</a:t>
            </a:r>
          </a:p>
        </p:txBody>
      </p:sp>
      <p:sp>
        <p:nvSpPr>
          <p:cNvPr name="TextBox 3" id="3"/>
          <p:cNvSpPr txBox="true"/>
          <p:nvPr/>
        </p:nvSpPr>
        <p:spPr>
          <a:xfrm rot="0">
            <a:off x="3385063" y="2410669"/>
            <a:ext cx="5428620" cy="8051177"/>
          </a:xfrm>
          <a:prstGeom prst="rect">
            <a:avLst/>
          </a:prstGeom>
        </p:spPr>
        <p:txBody>
          <a:bodyPr anchor="t" rtlCol="false" tIns="0" lIns="0" bIns="0" rIns="0">
            <a:spAutoFit/>
          </a:bodyPr>
          <a:lstStyle/>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Original File: Maharashtra.xlxs</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Cleaned File: cleaned_data.csv</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Rows: ~48,000+</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Columns:</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datetime</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PM2.5</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PM10</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NO₂</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SO₂</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CO</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O₃</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AQI Category</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Cleaning Steps:</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Null removal</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Type conversion</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Duplicate removal</a:t>
            </a:r>
          </a:p>
          <a:p>
            <a:pPr algn="l" marL="545054" indent="-272527" lvl="1">
              <a:lnSpc>
                <a:spcPts val="3534"/>
              </a:lnSpc>
              <a:buFont typeface="Arial"/>
              <a:buChar char="•"/>
            </a:pPr>
            <a:r>
              <a:rPr lang="en-US" sz="2524" spc="27">
                <a:solidFill>
                  <a:srgbClr val="000000"/>
                </a:solidFill>
                <a:latin typeface="Open Sans"/>
                <a:ea typeface="Open Sans"/>
                <a:cs typeface="Open Sans"/>
                <a:sym typeface="Open Sans"/>
              </a:rPr>
              <a:t>Outlier correction</a:t>
            </a:r>
          </a:p>
          <a:p>
            <a:pPr algn="l">
              <a:lnSpc>
                <a:spcPts val="3534"/>
              </a:lnSpc>
            </a:pPr>
          </a:p>
        </p:txBody>
      </p:sp>
      <p:sp>
        <p:nvSpPr>
          <p:cNvPr name="Freeform 4" id="4"/>
          <p:cNvSpPr/>
          <p:nvPr/>
        </p:nvSpPr>
        <p:spPr>
          <a:xfrm flipH="false" flipV="false" rot="0">
            <a:off x="8262240" y="6110626"/>
            <a:ext cx="10166061" cy="5523560"/>
          </a:xfrm>
          <a:custGeom>
            <a:avLst/>
            <a:gdLst/>
            <a:ahLst/>
            <a:cxnLst/>
            <a:rect r="r" b="b" t="t" l="l"/>
            <a:pathLst>
              <a:path h="5523560" w="10166061">
                <a:moveTo>
                  <a:pt x="0" y="0"/>
                </a:moveTo>
                <a:lnTo>
                  <a:pt x="10166061" y="0"/>
                </a:lnTo>
                <a:lnTo>
                  <a:pt x="10166061" y="5523560"/>
                </a:lnTo>
                <a:lnTo>
                  <a:pt x="0" y="5523560"/>
                </a:lnTo>
                <a:lnTo>
                  <a:pt x="0" y="0"/>
                </a:lnTo>
                <a:close/>
              </a:path>
            </a:pathLst>
          </a:custGeom>
          <a:blipFill>
            <a:blip r:embed="rId2"/>
            <a:stretch>
              <a:fillRect l="0" t="0" r="0" b="0"/>
            </a:stretch>
          </a:blipFill>
        </p:spPr>
      </p:sp>
      <p:sp>
        <p:nvSpPr>
          <p:cNvPr name="Freeform 5" id="5"/>
          <p:cNvSpPr/>
          <p:nvPr/>
        </p:nvSpPr>
        <p:spPr>
          <a:xfrm flipH="false" flipV="false" rot="-3689918">
            <a:off x="-3481942" y="-1490472"/>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4159108" y="-745882"/>
            <a:ext cx="6200384" cy="4114800"/>
          </a:xfrm>
          <a:custGeom>
            <a:avLst/>
            <a:gdLst/>
            <a:ahLst/>
            <a:cxnLst/>
            <a:rect r="r" b="b" t="t" l="l"/>
            <a:pathLst>
              <a:path h="4114800" w="6200384">
                <a:moveTo>
                  <a:pt x="0" y="0"/>
                </a:moveTo>
                <a:lnTo>
                  <a:pt x="6200384" y="0"/>
                </a:lnTo>
                <a:lnTo>
                  <a:pt x="62003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764947" y="6875720"/>
            <a:ext cx="4577317" cy="6822560"/>
          </a:xfrm>
          <a:custGeom>
            <a:avLst/>
            <a:gdLst/>
            <a:ahLst/>
            <a:cxnLst/>
            <a:rect r="r" b="b" t="t" l="l"/>
            <a:pathLst>
              <a:path h="6822560" w="4577317">
                <a:moveTo>
                  <a:pt x="0" y="0"/>
                </a:moveTo>
                <a:lnTo>
                  <a:pt x="4577317" y="0"/>
                </a:lnTo>
                <a:lnTo>
                  <a:pt x="4577317" y="6822560"/>
                </a:lnTo>
                <a:lnTo>
                  <a:pt x="0" y="6822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8" id="8"/>
          <p:cNvSpPr txBox="true"/>
          <p:nvPr/>
        </p:nvSpPr>
        <p:spPr>
          <a:xfrm rot="0">
            <a:off x="9951573" y="3946154"/>
            <a:ext cx="7990381" cy="3564830"/>
          </a:xfrm>
          <a:prstGeom prst="rect">
            <a:avLst/>
          </a:prstGeom>
        </p:spPr>
        <p:txBody>
          <a:bodyPr anchor="t" rtlCol="false" tIns="0" lIns="0" bIns="0" rIns="0">
            <a:spAutoFit/>
          </a:bodyPr>
          <a:lstStyle/>
          <a:p>
            <a:pPr algn="l">
              <a:lnSpc>
                <a:spcPts val="3538"/>
              </a:lnSpc>
              <a:spcBef>
                <a:spcPct val="0"/>
              </a:spcBef>
            </a:pPr>
            <a:r>
              <a:rPr lang="en-US" sz="2527">
                <a:solidFill>
                  <a:srgbClr val="000000"/>
                </a:solidFill>
                <a:latin typeface="Open Sans"/>
                <a:ea typeface="Open Sans"/>
                <a:cs typeface="Open Sans"/>
                <a:sym typeface="Open Sans"/>
              </a:rPr>
              <a:t>Using MySQL</a:t>
            </a:r>
          </a:p>
          <a:p>
            <a:pPr algn="l">
              <a:lnSpc>
                <a:spcPts val="3538"/>
              </a:lnSpc>
              <a:spcBef>
                <a:spcPct val="0"/>
              </a:spcBef>
            </a:pPr>
            <a:r>
              <a:rPr lang="en-US" sz="2527">
                <a:solidFill>
                  <a:srgbClr val="000000"/>
                </a:solidFill>
                <a:latin typeface="Open Sans"/>
                <a:ea typeface="Open Sans"/>
                <a:cs typeface="Open Sans"/>
                <a:sym typeface="Open Sans"/>
              </a:rPr>
              <a:t>Cleaned dataset stored for faster querying</a:t>
            </a:r>
          </a:p>
          <a:p>
            <a:pPr algn="l">
              <a:lnSpc>
                <a:spcPts val="3538"/>
              </a:lnSpc>
              <a:spcBef>
                <a:spcPct val="0"/>
              </a:spcBef>
            </a:pPr>
            <a:r>
              <a:rPr lang="en-US" sz="2527">
                <a:solidFill>
                  <a:srgbClr val="000000"/>
                </a:solidFill>
                <a:latin typeface="Open Sans"/>
                <a:ea typeface="Open Sans"/>
                <a:cs typeface="Open Sans"/>
                <a:sym typeface="Open Sans"/>
              </a:rPr>
              <a:t>Supports:</a:t>
            </a:r>
          </a:p>
          <a:p>
            <a:pPr algn="l" marL="545661" indent="-272831" lvl="1">
              <a:lnSpc>
                <a:spcPts val="3538"/>
              </a:lnSpc>
              <a:buFont typeface="Arial"/>
              <a:buChar char="•"/>
            </a:pPr>
            <a:r>
              <a:rPr lang="en-US" sz="2527">
                <a:solidFill>
                  <a:srgbClr val="000000"/>
                </a:solidFill>
                <a:latin typeface="Open Sans"/>
                <a:ea typeface="Open Sans"/>
                <a:cs typeface="Open Sans"/>
                <a:sym typeface="Open Sans"/>
              </a:rPr>
              <a:t>city-wise filtering</a:t>
            </a:r>
          </a:p>
          <a:p>
            <a:pPr algn="l" marL="545661" indent="-272831" lvl="1">
              <a:lnSpc>
                <a:spcPts val="3538"/>
              </a:lnSpc>
              <a:buFont typeface="Arial"/>
              <a:buChar char="•"/>
            </a:pPr>
            <a:r>
              <a:rPr lang="en-US" sz="2527">
                <a:solidFill>
                  <a:srgbClr val="000000"/>
                </a:solidFill>
                <a:latin typeface="Open Sans"/>
                <a:ea typeface="Open Sans"/>
                <a:cs typeface="Open Sans"/>
                <a:sym typeface="Open Sans"/>
              </a:rPr>
              <a:t>pollutant-wise filtering</a:t>
            </a:r>
          </a:p>
          <a:p>
            <a:pPr algn="l" marL="545661" indent="-272831" lvl="1">
              <a:lnSpc>
                <a:spcPts val="3538"/>
              </a:lnSpc>
              <a:buFont typeface="Arial"/>
              <a:buChar char="•"/>
            </a:pPr>
            <a:r>
              <a:rPr lang="en-US" sz="2527">
                <a:solidFill>
                  <a:srgbClr val="000000"/>
                </a:solidFill>
                <a:latin typeface="Open Sans"/>
                <a:ea typeface="Open Sans"/>
                <a:cs typeface="Open Sans"/>
                <a:sym typeface="Open Sans"/>
              </a:rPr>
              <a:t>date-wise filtering</a:t>
            </a:r>
          </a:p>
          <a:p>
            <a:pPr algn="l" marL="545661" indent="-272831" lvl="1">
              <a:lnSpc>
                <a:spcPts val="3538"/>
              </a:lnSpc>
              <a:buFont typeface="Arial"/>
              <a:buChar char="•"/>
            </a:pPr>
            <a:r>
              <a:rPr lang="en-US" sz="2527">
                <a:solidFill>
                  <a:srgbClr val="000000"/>
                </a:solidFill>
                <a:latin typeface="Open Sans"/>
                <a:ea typeface="Open Sans"/>
                <a:cs typeface="Open Sans"/>
                <a:sym typeface="Open Sans"/>
              </a:rPr>
              <a:t>Backend fetches data directly from cleaned database</a:t>
            </a:r>
          </a:p>
        </p:txBody>
      </p:sp>
      <p:sp>
        <p:nvSpPr>
          <p:cNvPr name="TextBox 9" id="9"/>
          <p:cNvSpPr txBox="true"/>
          <p:nvPr/>
        </p:nvSpPr>
        <p:spPr>
          <a:xfrm rot="0">
            <a:off x="5183169" y="1804596"/>
            <a:ext cx="1241743" cy="561976"/>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Times New Roman MT Bold"/>
                <a:ea typeface="Times New Roman MT Bold"/>
                <a:cs typeface="Times New Roman MT Bold"/>
                <a:sym typeface="Times New Roman MT Bold"/>
              </a:rPr>
              <a:t>Dataset</a:t>
            </a:r>
          </a:p>
        </p:txBody>
      </p:sp>
      <p:sp>
        <p:nvSpPr>
          <p:cNvPr name="TextBox 10" id="10"/>
          <p:cNvSpPr txBox="true"/>
          <p:nvPr/>
        </p:nvSpPr>
        <p:spPr>
          <a:xfrm rot="0">
            <a:off x="11413278" y="3030780"/>
            <a:ext cx="1495901" cy="561976"/>
          </a:xfrm>
          <a:prstGeom prst="rect">
            <a:avLst/>
          </a:prstGeom>
        </p:spPr>
        <p:txBody>
          <a:bodyPr anchor="t" rtlCol="false" tIns="0" lIns="0" bIns="0" rIns="0">
            <a:spAutoFit/>
          </a:bodyPr>
          <a:lstStyle/>
          <a:p>
            <a:pPr algn="ctr">
              <a:lnSpc>
                <a:spcPts val="4199"/>
              </a:lnSpc>
              <a:spcBef>
                <a:spcPct val="0"/>
              </a:spcBef>
            </a:pPr>
            <a:r>
              <a:rPr lang="en-US" b="true" sz="2999">
                <a:solidFill>
                  <a:srgbClr val="000000"/>
                </a:solidFill>
                <a:latin typeface="Times New Roman MT Bold"/>
                <a:ea typeface="Times New Roman MT Bold"/>
                <a:cs typeface="Times New Roman MT Bold"/>
                <a:sym typeface="Times New Roman MT Bold"/>
              </a:rPr>
              <a:t>Database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Freeform 2" id="2"/>
          <p:cNvSpPr/>
          <p:nvPr/>
        </p:nvSpPr>
        <p:spPr>
          <a:xfrm flipH="false" flipV="false" rot="0">
            <a:off x="8262240" y="6110626"/>
            <a:ext cx="10166061" cy="5523560"/>
          </a:xfrm>
          <a:custGeom>
            <a:avLst/>
            <a:gdLst/>
            <a:ahLst/>
            <a:cxnLst/>
            <a:rect r="r" b="b" t="t" l="l"/>
            <a:pathLst>
              <a:path h="5523560" w="10166061">
                <a:moveTo>
                  <a:pt x="0" y="0"/>
                </a:moveTo>
                <a:lnTo>
                  <a:pt x="10166061" y="0"/>
                </a:lnTo>
                <a:lnTo>
                  <a:pt x="10166061" y="5523560"/>
                </a:lnTo>
                <a:lnTo>
                  <a:pt x="0" y="5523560"/>
                </a:lnTo>
                <a:lnTo>
                  <a:pt x="0" y="0"/>
                </a:lnTo>
                <a:close/>
              </a:path>
            </a:pathLst>
          </a:custGeom>
          <a:blipFill>
            <a:blip r:embed="rId2"/>
            <a:stretch>
              <a:fillRect l="0" t="0" r="0" b="0"/>
            </a:stretch>
          </a:blipFill>
        </p:spPr>
      </p:sp>
      <p:sp>
        <p:nvSpPr>
          <p:cNvPr name="Freeform 3" id="3"/>
          <p:cNvSpPr/>
          <p:nvPr/>
        </p:nvSpPr>
        <p:spPr>
          <a:xfrm flipH="false" flipV="false" rot="-3689918">
            <a:off x="-3481942" y="-1490472"/>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159108" y="-745882"/>
            <a:ext cx="6200384" cy="4114800"/>
          </a:xfrm>
          <a:custGeom>
            <a:avLst/>
            <a:gdLst/>
            <a:ahLst/>
            <a:cxnLst/>
            <a:rect r="r" b="b" t="t" l="l"/>
            <a:pathLst>
              <a:path h="4114800" w="6200384">
                <a:moveTo>
                  <a:pt x="0" y="0"/>
                </a:moveTo>
                <a:lnTo>
                  <a:pt x="6200384" y="0"/>
                </a:lnTo>
                <a:lnTo>
                  <a:pt x="62003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764947" y="6875720"/>
            <a:ext cx="4577317" cy="6822560"/>
          </a:xfrm>
          <a:custGeom>
            <a:avLst/>
            <a:gdLst/>
            <a:ahLst/>
            <a:cxnLst/>
            <a:rect r="r" b="b" t="t" l="l"/>
            <a:pathLst>
              <a:path h="6822560" w="4577317">
                <a:moveTo>
                  <a:pt x="0" y="0"/>
                </a:moveTo>
                <a:lnTo>
                  <a:pt x="4577317" y="0"/>
                </a:lnTo>
                <a:lnTo>
                  <a:pt x="4577317" y="6822560"/>
                </a:lnTo>
                <a:lnTo>
                  <a:pt x="0" y="6822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855528" y="3368918"/>
            <a:ext cx="7288472" cy="5075330"/>
          </a:xfrm>
          <a:custGeom>
            <a:avLst/>
            <a:gdLst/>
            <a:ahLst/>
            <a:cxnLst/>
            <a:rect r="r" b="b" t="t" l="l"/>
            <a:pathLst>
              <a:path h="5075330" w="7288472">
                <a:moveTo>
                  <a:pt x="0" y="0"/>
                </a:moveTo>
                <a:lnTo>
                  <a:pt x="7288472" y="0"/>
                </a:lnTo>
                <a:lnTo>
                  <a:pt x="7288472" y="5075330"/>
                </a:lnTo>
                <a:lnTo>
                  <a:pt x="0" y="5075330"/>
                </a:lnTo>
                <a:lnTo>
                  <a:pt x="0" y="0"/>
                </a:lnTo>
                <a:close/>
              </a:path>
            </a:pathLst>
          </a:custGeom>
          <a:blipFill>
            <a:blip r:embed="rId9"/>
            <a:stretch>
              <a:fillRect l="0" t="0" r="0" b="0"/>
            </a:stretch>
          </a:blipFill>
        </p:spPr>
      </p:sp>
      <p:sp>
        <p:nvSpPr>
          <p:cNvPr name="Freeform 7" id="7"/>
          <p:cNvSpPr/>
          <p:nvPr/>
        </p:nvSpPr>
        <p:spPr>
          <a:xfrm flipH="false" flipV="false" rot="0">
            <a:off x="10012102" y="2413078"/>
            <a:ext cx="6317227" cy="6356958"/>
          </a:xfrm>
          <a:custGeom>
            <a:avLst/>
            <a:gdLst/>
            <a:ahLst/>
            <a:cxnLst/>
            <a:rect r="r" b="b" t="t" l="l"/>
            <a:pathLst>
              <a:path h="6356958" w="6317227">
                <a:moveTo>
                  <a:pt x="0" y="0"/>
                </a:moveTo>
                <a:lnTo>
                  <a:pt x="6317227" y="0"/>
                </a:lnTo>
                <a:lnTo>
                  <a:pt x="6317227" y="6356958"/>
                </a:lnTo>
                <a:lnTo>
                  <a:pt x="0" y="6356958"/>
                </a:lnTo>
                <a:lnTo>
                  <a:pt x="0" y="0"/>
                </a:lnTo>
                <a:close/>
              </a:path>
            </a:pathLst>
          </a:custGeom>
          <a:blipFill>
            <a:blip r:embed="rId10"/>
            <a:stretch>
              <a:fillRect l="0" t="0" r="0" b="0"/>
            </a:stretch>
          </a:blipFill>
        </p:spPr>
      </p:sp>
      <p:sp>
        <p:nvSpPr>
          <p:cNvPr name="TextBox 8" id="8"/>
          <p:cNvSpPr txBox="true"/>
          <p:nvPr/>
        </p:nvSpPr>
        <p:spPr>
          <a:xfrm rot="0">
            <a:off x="5871030" y="1029260"/>
            <a:ext cx="6545941" cy="1195706"/>
          </a:xfrm>
          <a:prstGeom prst="rect">
            <a:avLst/>
          </a:prstGeom>
        </p:spPr>
        <p:txBody>
          <a:bodyPr anchor="t" rtlCol="false" tIns="0" lIns="0" bIns="0" rIns="0">
            <a:spAutoFit/>
          </a:bodyPr>
          <a:lstStyle/>
          <a:p>
            <a:pPr algn="ctr">
              <a:lnSpc>
                <a:spcPts val="7760"/>
              </a:lnSpc>
            </a:pPr>
            <a:r>
              <a:rPr lang="en-US" sz="8000">
                <a:solidFill>
                  <a:srgbClr val="003352"/>
                </a:solidFill>
                <a:latin typeface="Times New Roman MT"/>
                <a:ea typeface="Times New Roman MT"/>
                <a:cs typeface="Times New Roman MT"/>
                <a:sym typeface="Times New Roman MT"/>
              </a:rPr>
              <a:t>Architecture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TextBox 2" id="2"/>
          <p:cNvSpPr txBox="true"/>
          <p:nvPr/>
        </p:nvSpPr>
        <p:spPr>
          <a:xfrm rot="0">
            <a:off x="5131750" y="1025513"/>
            <a:ext cx="8417734" cy="1195706"/>
          </a:xfrm>
          <a:prstGeom prst="rect">
            <a:avLst/>
          </a:prstGeom>
        </p:spPr>
        <p:txBody>
          <a:bodyPr anchor="t" rtlCol="false" tIns="0" lIns="0" bIns="0" rIns="0">
            <a:spAutoFit/>
          </a:bodyPr>
          <a:lstStyle/>
          <a:p>
            <a:pPr algn="ctr">
              <a:lnSpc>
                <a:spcPts val="7760"/>
              </a:lnSpc>
            </a:pPr>
            <a:r>
              <a:rPr lang="en-US" sz="8000">
                <a:solidFill>
                  <a:srgbClr val="003352"/>
                </a:solidFill>
                <a:latin typeface="Times New Roman MT"/>
                <a:ea typeface="Times New Roman MT"/>
                <a:cs typeface="Times New Roman MT"/>
                <a:sym typeface="Times New Roman MT"/>
              </a:rPr>
              <a:t>Challenges Faced</a:t>
            </a:r>
          </a:p>
        </p:txBody>
      </p:sp>
      <p:grpSp>
        <p:nvGrpSpPr>
          <p:cNvPr name="Group 3" id="3"/>
          <p:cNvGrpSpPr/>
          <p:nvPr/>
        </p:nvGrpSpPr>
        <p:grpSpPr>
          <a:xfrm rot="0">
            <a:off x="4091211" y="2726044"/>
            <a:ext cx="10067897" cy="5312706"/>
            <a:chOff x="0" y="0"/>
            <a:chExt cx="2651627" cy="1399231"/>
          </a:xfrm>
        </p:grpSpPr>
        <p:sp>
          <p:nvSpPr>
            <p:cNvPr name="Freeform 4" id="4"/>
            <p:cNvSpPr/>
            <p:nvPr/>
          </p:nvSpPr>
          <p:spPr>
            <a:xfrm flipH="false" flipV="false" rot="0">
              <a:off x="0" y="0"/>
              <a:ext cx="2651627" cy="1399231"/>
            </a:xfrm>
            <a:custGeom>
              <a:avLst/>
              <a:gdLst/>
              <a:ahLst/>
              <a:cxnLst/>
              <a:rect r="r" b="b" t="t" l="l"/>
              <a:pathLst>
                <a:path h="1399231" w="2651627">
                  <a:moveTo>
                    <a:pt x="38929" y="0"/>
                  </a:moveTo>
                  <a:lnTo>
                    <a:pt x="2612698" y="0"/>
                  </a:lnTo>
                  <a:cubicBezTo>
                    <a:pt x="2623023" y="0"/>
                    <a:pt x="2632925" y="4101"/>
                    <a:pt x="2640225" y="11402"/>
                  </a:cubicBezTo>
                  <a:cubicBezTo>
                    <a:pt x="2647526" y="18703"/>
                    <a:pt x="2651627" y="28604"/>
                    <a:pt x="2651627" y="38929"/>
                  </a:cubicBezTo>
                  <a:lnTo>
                    <a:pt x="2651627" y="1360302"/>
                  </a:lnTo>
                  <a:cubicBezTo>
                    <a:pt x="2651627" y="1370627"/>
                    <a:pt x="2647526" y="1380529"/>
                    <a:pt x="2640225" y="1387829"/>
                  </a:cubicBezTo>
                  <a:cubicBezTo>
                    <a:pt x="2632925" y="1395130"/>
                    <a:pt x="2623023" y="1399231"/>
                    <a:pt x="2612698" y="1399231"/>
                  </a:cubicBezTo>
                  <a:lnTo>
                    <a:pt x="38929" y="1399231"/>
                  </a:lnTo>
                  <a:cubicBezTo>
                    <a:pt x="28604" y="1399231"/>
                    <a:pt x="18703" y="1395130"/>
                    <a:pt x="11402" y="1387829"/>
                  </a:cubicBezTo>
                  <a:cubicBezTo>
                    <a:pt x="4101" y="1380529"/>
                    <a:pt x="0" y="1370627"/>
                    <a:pt x="0" y="1360302"/>
                  </a:cubicBezTo>
                  <a:lnTo>
                    <a:pt x="0" y="38929"/>
                  </a:lnTo>
                  <a:cubicBezTo>
                    <a:pt x="0" y="28604"/>
                    <a:pt x="4101" y="18703"/>
                    <a:pt x="11402" y="11402"/>
                  </a:cubicBezTo>
                  <a:cubicBezTo>
                    <a:pt x="18703" y="4101"/>
                    <a:pt x="28604" y="0"/>
                    <a:pt x="38929" y="0"/>
                  </a:cubicBezTo>
                  <a:close/>
                </a:path>
              </a:pathLst>
            </a:custGeom>
            <a:solidFill>
              <a:srgbClr val="044A6A"/>
            </a:solidFill>
          </p:spPr>
        </p:sp>
        <p:sp>
          <p:nvSpPr>
            <p:cNvPr name="TextBox 5" id="5"/>
            <p:cNvSpPr txBox="true"/>
            <p:nvPr/>
          </p:nvSpPr>
          <p:spPr>
            <a:xfrm>
              <a:off x="0" y="-38100"/>
              <a:ext cx="2651627" cy="1437331"/>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5458077" y="3775387"/>
            <a:ext cx="8091407" cy="2679076"/>
          </a:xfrm>
          <a:prstGeom prst="rect">
            <a:avLst/>
          </a:prstGeom>
        </p:spPr>
        <p:txBody>
          <a:bodyPr anchor="t" rtlCol="false" tIns="0" lIns="0" bIns="0" rIns="0">
            <a:spAutoFit/>
          </a:bodyPr>
          <a:lstStyle/>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Large dataset size causing slow loads</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Cleaning inconsistent timestamps</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Maintaining data accuracy</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Creating responsive pollutant charts</a:t>
            </a:r>
          </a:p>
          <a:p>
            <a:pPr algn="l" marL="545054" indent="-272527" lvl="1">
              <a:lnSpc>
                <a:spcPts val="3534"/>
              </a:lnSpc>
              <a:buFont typeface="Arial"/>
              <a:buChar char="•"/>
            </a:pPr>
            <a:r>
              <a:rPr lang="en-US" sz="2524" spc="27">
                <a:solidFill>
                  <a:srgbClr val="FFFFFF"/>
                </a:solidFill>
                <a:latin typeface="Open Sans"/>
                <a:ea typeface="Open Sans"/>
                <a:cs typeface="Open Sans"/>
                <a:sym typeface="Open Sans"/>
              </a:rPr>
              <a:t>Backend performance optimization</a:t>
            </a:r>
          </a:p>
          <a:p>
            <a:pPr algn="l">
              <a:lnSpc>
                <a:spcPts val="3534"/>
              </a:lnSpc>
            </a:pPr>
          </a:p>
        </p:txBody>
      </p:sp>
      <p:sp>
        <p:nvSpPr>
          <p:cNvPr name="Freeform 7" id="7"/>
          <p:cNvSpPr/>
          <p:nvPr/>
        </p:nvSpPr>
        <p:spPr>
          <a:xfrm flipH="false" flipV="false" rot="0">
            <a:off x="8671203" y="6110626"/>
            <a:ext cx="10166061" cy="5523560"/>
          </a:xfrm>
          <a:custGeom>
            <a:avLst/>
            <a:gdLst/>
            <a:ahLst/>
            <a:cxnLst/>
            <a:rect r="r" b="b" t="t" l="l"/>
            <a:pathLst>
              <a:path h="5523560" w="10166061">
                <a:moveTo>
                  <a:pt x="0" y="0"/>
                </a:moveTo>
                <a:lnTo>
                  <a:pt x="10166061" y="0"/>
                </a:lnTo>
                <a:lnTo>
                  <a:pt x="10166061" y="5523560"/>
                </a:lnTo>
                <a:lnTo>
                  <a:pt x="0" y="5523560"/>
                </a:lnTo>
                <a:lnTo>
                  <a:pt x="0" y="0"/>
                </a:lnTo>
                <a:close/>
              </a:path>
            </a:pathLst>
          </a:custGeom>
          <a:blipFill>
            <a:blip r:embed="rId2"/>
            <a:stretch>
              <a:fillRect l="0" t="0" r="0" b="0"/>
            </a:stretch>
          </a:blipFill>
        </p:spPr>
      </p:sp>
      <p:sp>
        <p:nvSpPr>
          <p:cNvPr name="Freeform 8" id="8"/>
          <p:cNvSpPr/>
          <p:nvPr/>
        </p:nvSpPr>
        <p:spPr>
          <a:xfrm flipH="false" flipV="false" rot="-3689918">
            <a:off x="-3481942" y="-1490472"/>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4159108" y="-745882"/>
            <a:ext cx="6200384" cy="4114800"/>
          </a:xfrm>
          <a:custGeom>
            <a:avLst/>
            <a:gdLst/>
            <a:ahLst/>
            <a:cxnLst/>
            <a:rect r="r" b="b" t="t" l="l"/>
            <a:pathLst>
              <a:path h="4114800" w="6200384">
                <a:moveTo>
                  <a:pt x="0" y="0"/>
                </a:moveTo>
                <a:lnTo>
                  <a:pt x="6200384" y="0"/>
                </a:lnTo>
                <a:lnTo>
                  <a:pt x="62003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1764947" y="6875720"/>
            <a:ext cx="4577317" cy="6822560"/>
          </a:xfrm>
          <a:custGeom>
            <a:avLst/>
            <a:gdLst/>
            <a:ahLst/>
            <a:cxnLst/>
            <a:rect r="r" b="b" t="t" l="l"/>
            <a:pathLst>
              <a:path h="6822560" w="4577317">
                <a:moveTo>
                  <a:pt x="0" y="0"/>
                </a:moveTo>
                <a:lnTo>
                  <a:pt x="4577317" y="0"/>
                </a:lnTo>
                <a:lnTo>
                  <a:pt x="4577317" y="6822560"/>
                </a:lnTo>
                <a:lnTo>
                  <a:pt x="0" y="6822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TextBox 2" id="2"/>
          <p:cNvSpPr txBox="true"/>
          <p:nvPr/>
        </p:nvSpPr>
        <p:spPr>
          <a:xfrm rot="0">
            <a:off x="2595833" y="1663121"/>
            <a:ext cx="13096334" cy="1195706"/>
          </a:xfrm>
          <a:prstGeom prst="rect">
            <a:avLst/>
          </a:prstGeom>
        </p:spPr>
        <p:txBody>
          <a:bodyPr anchor="t" rtlCol="false" tIns="0" lIns="0" bIns="0" rIns="0">
            <a:spAutoFit/>
          </a:bodyPr>
          <a:lstStyle/>
          <a:p>
            <a:pPr algn="ctr">
              <a:lnSpc>
                <a:spcPts val="7760"/>
              </a:lnSpc>
            </a:pPr>
            <a:r>
              <a:rPr lang="en-US" sz="8000">
                <a:solidFill>
                  <a:srgbClr val="003352"/>
                </a:solidFill>
                <a:latin typeface="Times New Roman MT"/>
                <a:ea typeface="Times New Roman MT"/>
                <a:cs typeface="Times New Roman MT"/>
                <a:sym typeface="Times New Roman MT"/>
              </a:rPr>
              <a:t>Conclusion</a:t>
            </a:r>
          </a:p>
        </p:txBody>
      </p:sp>
      <p:sp>
        <p:nvSpPr>
          <p:cNvPr name="Freeform 3" id="3"/>
          <p:cNvSpPr/>
          <p:nvPr/>
        </p:nvSpPr>
        <p:spPr>
          <a:xfrm flipH="false" flipV="false" rot="0">
            <a:off x="8262240" y="6110626"/>
            <a:ext cx="10166061" cy="5523560"/>
          </a:xfrm>
          <a:custGeom>
            <a:avLst/>
            <a:gdLst/>
            <a:ahLst/>
            <a:cxnLst/>
            <a:rect r="r" b="b" t="t" l="l"/>
            <a:pathLst>
              <a:path h="5523560" w="10166061">
                <a:moveTo>
                  <a:pt x="0" y="0"/>
                </a:moveTo>
                <a:lnTo>
                  <a:pt x="10166061" y="0"/>
                </a:lnTo>
                <a:lnTo>
                  <a:pt x="10166061" y="5523560"/>
                </a:lnTo>
                <a:lnTo>
                  <a:pt x="0" y="5523560"/>
                </a:lnTo>
                <a:lnTo>
                  <a:pt x="0" y="0"/>
                </a:lnTo>
                <a:close/>
              </a:path>
            </a:pathLst>
          </a:custGeom>
          <a:blipFill>
            <a:blip r:embed="rId2"/>
            <a:stretch>
              <a:fillRect l="0" t="0" r="0" b="0"/>
            </a:stretch>
          </a:blipFill>
        </p:spPr>
      </p:sp>
      <p:sp>
        <p:nvSpPr>
          <p:cNvPr name="Freeform 4" id="4"/>
          <p:cNvSpPr/>
          <p:nvPr/>
        </p:nvSpPr>
        <p:spPr>
          <a:xfrm flipH="false" flipV="false" rot="-3689918">
            <a:off x="-3481942" y="-1490472"/>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159108" y="-745882"/>
            <a:ext cx="6200384" cy="4114800"/>
          </a:xfrm>
          <a:custGeom>
            <a:avLst/>
            <a:gdLst/>
            <a:ahLst/>
            <a:cxnLst/>
            <a:rect r="r" b="b" t="t" l="l"/>
            <a:pathLst>
              <a:path h="4114800" w="6200384">
                <a:moveTo>
                  <a:pt x="0" y="0"/>
                </a:moveTo>
                <a:lnTo>
                  <a:pt x="6200384" y="0"/>
                </a:lnTo>
                <a:lnTo>
                  <a:pt x="6200384"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64947" y="6875720"/>
            <a:ext cx="4577317" cy="6822560"/>
          </a:xfrm>
          <a:custGeom>
            <a:avLst/>
            <a:gdLst/>
            <a:ahLst/>
            <a:cxnLst/>
            <a:rect r="r" b="b" t="t" l="l"/>
            <a:pathLst>
              <a:path h="6822560" w="4577317">
                <a:moveTo>
                  <a:pt x="0" y="0"/>
                </a:moveTo>
                <a:lnTo>
                  <a:pt x="4577317" y="0"/>
                </a:lnTo>
                <a:lnTo>
                  <a:pt x="4577317" y="6822560"/>
                </a:lnTo>
                <a:lnTo>
                  <a:pt x="0" y="682256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4091211" y="3145843"/>
            <a:ext cx="10067897" cy="5312706"/>
            <a:chOff x="0" y="0"/>
            <a:chExt cx="2651627" cy="1399231"/>
          </a:xfrm>
        </p:grpSpPr>
        <p:sp>
          <p:nvSpPr>
            <p:cNvPr name="Freeform 8" id="8"/>
            <p:cNvSpPr/>
            <p:nvPr/>
          </p:nvSpPr>
          <p:spPr>
            <a:xfrm flipH="false" flipV="false" rot="0">
              <a:off x="0" y="0"/>
              <a:ext cx="2651627" cy="1399231"/>
            </a:xfrm>
            <a:custGeom>
              <a:avLst/>
              <a:gdLst/>
              <a:ahLst/>
              <a:cxnLst/>
              <a:rect r="r" b="b" t="t" l="l"/>
              <a:pathLst>
                <a:path h="1399231" w="2651627">
                  <a:moveTo>
                    <a:pt x="38929" y="0"/>
                  </a:moveTo>
                  <a:lnTo>
                    <a:pt x="2612698" y="0"/>
                  </a:lnTo>
                  <a:cubicBezTo>
                    <a:pt x="2623023" y="0"/>
                    <a:pt x="2632925" y="4101"/>
                    <a:pt x="2640225" y="11402"/>
                  </a:cubicBezTo>
                  <a:cubicBezTo>
                    <a:pt x="2647526" y="18703"/>
                    <a:pt x="2651627" y="28604"/>
                    <a:pt x="2651627" y="38929"/>
                  </a:cubicBezTo>
                  <a:lnTo>
                    <a:pt x="2651627" y="1360302"/>
                  </a:lnTo>
                  <a:cubicBezTo>
                    <a:pt x="2651627" y="1370627"/>
                    <a:pt x="2647526" y="1380529"/>
                    <a:pt x="2640225" y="1387829"/>
                  </a:cubicBezTo>
                  <a:cubicBezTo>
                    <a:pt x="2632925" y="1395130"/>
                    <a:pt x="2623023" y="1399231"/>
                    <a:pt x="2612698" y="1399231"/>
                  </a:cubicBezTo>
                  <a:lnTo>
                    <a:pt x="38929" y="1399231"/>
                  </a:lnTo>
                  <a:cubicBezTo>
                    <a:pt x="28604" y="1399231"/>
                    <a:pt x="18703" y="1395130"/>
                    <a:pt x="11402" y="1387829"/>
                  </a:cubicBezTo>
                  <a:cubicBezTo>
                    <a:pt x="4101" y="1380529"/>
                    <a:pt x="0" y="1370627"/>
                    <a:pt x="0" y="1360302"/>
                  </a:cubicBezTo>
                  <a:lnTo>
                    <a:pt x="0" y="38929"/>
                  </a:lnTo>
                  <a:cubicBezTo>
                    <a:pt x="0" y="28604"/>
                    <a:pt x="4101" y="18703"/>
                    <a:pt x="11402" y="11402"/>
                  </a:cubicBezTo>
                  <a:cubicBezTo>
                    <a:pt x="18703" y="4101"/>
                    <a:pt x="28604" y="0"/>
                    <a:pt x="38929" y="0"/>
                  </a:cubicBezTo>
                  <a:close/>
                </a:path>
              </a:pathLst>
            </a:custGeom>
            <a:solidFill>
              <a:srgbClr val="044A6A"/>
            </a:solidFill>
          </p:spPr>
        </p:sp>
        <p:sp>
          <p:nvSpPr>
            <p:cNvPr name="TextBox 9" id="9"/>
            <p:cNvSpPr txBox="true"/>
            <p:nvPr/>
          </p:nvSpPr>
          <p:spPr>
            <a:xfrm>
              <a:off x="0" y="-38100"/>
              <a:ext cx="2651627" cy="1437331"/>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4652778" y="3746500"/>
            <a:ext cx="8944762" cy="3635375"/>
          </a:xfrm>
          <a:prstGeom prst="rect">
            <a:avLst/>
          </a:prstGeom>
        </p:spPr>
        <p:txBody>
          <a:bodyPr anchor="t" rtlCol="false" tIns="0" lIns="0" bIns="0" rIns="0">
            <a:spAutoFit/>
          </a:bodyPr>
          <a:lstStyle/>
          <a:p>
            <a:pPr algn="just">
              <a:lnSpc>
                <a:spcPts val="4149"/>
              </a:lnSpc>
            </a:pPr>
            <a:r>
              <a:rPr lang="en-US" sz="2499">
                <a:solidFill>
                  <a:srgbClr val="FFFFFF"/>
                </a:solidFill>
                <a:latin typeface="Open Sans"/>
                <a:ea typeface="Open Sans"/>
                <a:cs typeface="Open Sans"/>
                <a:sym typeface="Open Sans"/>
              </a:rPr>
              <a:t>AirAware provides an efficient and visually appealing solution for monitoring air pollution. It integrates data cleaning, processing, and real-time visualization into a full-stack system. The project lays the foundation for future enhancements such as machine learning–based anomaly detection, forecasting, and deep analytics for environmental studies.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F3EF"/>
        </a:solidFill>
      </p:bgPr>
    </p:bg>
    <p:spTree>
      <p:nvGrpSpPr>
        <p:cNvPr id="1" name=""/>
        <p:cNvGrpSpPr/>
        <p:nvPr/>
      </p:nvGrpSpPr>
      <p:grpSpPr>
        <a:xfrm>
          <a:off x="0" y="0"/>
          <a:ext cx="0" cy="0"/>
          <a:chOff x="0" y="0"/>
          <a:chExt cx="0" cy="0"/>
        </a:xfrm>
      </p:grpSpPr>
      <p:sp>
        <p:nvSpPr>
          <p:cNvPr name="Freeform 2" id="2"/>
          <p:cNvSpPr/>
          <p:nvPr/>
        </p:nvSpPr>
        <p:spPr>
          <a:xfrm flipH="false" flipV="false" rot="0">
            <a:off x="-401237" y="6580264"/>
            <a:ext cx="8299885" cy="4322857"/>
          </a:xfrm>
          <a:custGeom>
            <a:avLst/>
            <a:gdLst/>
            <a:ahLst/>
            <a:cxnLst/>
            <a:rect r="r" b="b" t="t" l="l"/>
            <a:pathLst>
              <a:path h="4322857" w="8299885">
                <a:moveTo>
                  <a:pt x="0" y="0"/>
                </a:moveTo>
                <a:lnTo>
                  <a:pt x="8299885" y="0"/>
                </a:lnTo>
                <a:lnTo>
                  <a:pt x="8299885" y="4322857"/>
                </a:lnTo>
                <a:lnTo>
                  <a:pt x="0" y="4322857"/>
                </a:lnTo>
                <a:lnTo>
                  <a:pt x="0" y="0"/>
                </a:lnTo>
                <a:close/>
              </a:path>
            </a:pathLst>
          </a:custGeom>
          <a:blipFill>
            <a:blip r:embed="rId2"/>
            <a:stretch>
              <a:fillRect l="0" t="0" r="0" b="0"/>
            </a:stretch>
          </a:blipFill>
        </p:spPr>
      </p:sp>
      <p:sp>
        <p:nvSpPr>
          <p:cNvPr name="TextBox 3" id="3"/>
          <p:cNvSpPr txBox="true"/>
          <p:nvPr/>
        </p:nvSpPr>
        <p:spPr>
          <a:xfrm rot="0">
            <a:off x="5355399" y="4418110"/>
            <a:ext cx="8112991" cy="1688905"/>
          </a:xfrm>
          <a:prstGeom prst="rect">
            <a:avLst/>
          </a:prstGeom>
        </p:spPr>
        <p:txBody>
          <a:bodyPr anchor="t" rtlCol="false" tIns="0" lIns="0" bIns="0" rIns="0">
            <a:spAutoFit/>
          </a:bodyPr>
          <a:lstStyle/>
          <a:p>
            <a:pPr algn="ctr">
              <a:lnSpc>
                <a:spcPts val="10010"/>
              </a:lnSpc>
            </a:pPr>
            <a:r>
              <a:rPr lang="en-US" sz="12671">
                <a:solidFill>
                  <a:srgbClr val="044A6A"/>
                </a:solidFill>
                <a:latin typeface="Times New Roman MT"/>
                <a:ea typeface="Times New Roman MT"/>
                <a:cs typeface="Times New Roman MT"/>
                <a:sym typeface="Times New Roman MT"/>
              </a:rPr>
              <a:t>Thank You</a:t>
            </a:r>
          </a:p>
        </p:txBody>
      </p:sp>
      <p:sp>
        <p:nvSpPr>
          <p:cNvPr name="Freeform 4" id="4"/>
          <p:cNvSpPr/>
          <p:nvPr/>
        </p:nvSpPr>
        <p:spPr>
          <a:xfrm flipH="false" flipV="false" rot="0">
            <a:off x="9938761" y="-1400690"/>
            <a:ext cx="9778768" cy="4000405"/>
          </a:xfrm>
          <a:custGeom>
            <a:avLst/>
            <a:gdLst/>
            <a:ahLst/>
            <a:cxnLst/>
            <a:rect r="r" b="b" t="t" l="l"/>
            <a:pathLst>
              <a:path h="4000405" w="9778768">
                <a:moveTo>
                  <a:pt x="0" y="0"/>
                </a:moveTo>
                <a:lnTo>
                  <a:pt x="9778767" y="0"/>
                </a:lnTo>
                <a:lnTo>
                  <a:pt x="9778767" y="4000405"/>
                </a:lnTo>
                <a:lnTo>
                  <a:pt x="0" y="40004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4181932">
            <a:off x="-2893003" y="8590"/>
            <a:ext cx="9021285" cy="5969359"/>
          </a:xfrm>
          <a:custGeom>
            <a:avLst/>
            <a:gdLst/>
            <a:ahLst/>
            <a:cxnLst/>
            <a:rect r="r" b="b" t="t" l="l"/>
            <a:pathLst>
              <a:path h="5969359" w="9021285">
                <a:moveTo>
                  <a:pt x="0" y="0"/>
                </a:moveTo>
                <a:lnTo>
                  <a:pt x="9021285" y="0"/>
                </a:lnTo>
                <a:lnTo>
                  <a:pt x="9021285" y="5969359"/>
                </a:lnTo>
                <a:lnTo>
                  <a:pt x="0" y="59693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4181932">
            <a:off x="11286547" y="4940010"/>
            <a:ext cx="9021285" cy="5969359"/>
          </a:xfrm>
          <a:custGeom>
            <a:avLst/>
            <a:gdLst/>
            <a:ahLst/>
            <a:cxnLst/>
            <a:rect r="r" b="b" t="t" l="l"/>
            <a:pathLst>
              <a:path h="5969359" w="9021285">
                <a:moveTo>
                  <a:pt x="0" y="0"/>
                </a:moveTo>
                <a:lnTo>
                  <a:pt x="9021284" y="0"/>
                </a:lnTo>
                <a:lnTo>
                  <a:pt x="9021284" y="5969359"/>
                </a:lnTo>
                <a:lnTo>
                  <a:pt x="0" y="596935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DAG5PM9zoIY</dc:identifier>
  <dcterms:modified xsi:type="dcterms:W3CDTF">2011-08-01T06:04:30Z</dcterms:modified>
  <cp:revision>1</cp:revision>
  <dc:title>AirAware ppt</dc:title>
</cp:coreProperties>
</file>