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x="18288000" cy="10287000"/>
  <p:notesSz cx="6858000" cy="9144000"/>
  <p:embeddedFontLst>
    <p:embeddedFont>
      <p:font typeface="Times New Roman MT" charset="1" panose="02030502070405020303"/>
      <p:regular r:id="rId18"/>
    </p:embeddedFont>
    <p:embeddedFont>
      <p:font typeface="Nice" charset="1" panose="020B0603030804020204"/>
      <p:regular r:id="rId19"/>
    </p:embeddedFont>
    <p:embeddedFont>
      <p:font typeface="Open Sans" charset="1" panose="020B0606030504020204"/>
      <p:regular r:id="rId20"/>
    </p:embeddedFont>
    <p:embeddedFont>
      <p:font typeface="Times New Roman MT Bold" charset="1" panose="02030802070405020303"/>
      <p:regular r:id="rId21"/>
    </p:embeddedFont>
    <p:embeddedFont>
      <p:font typeface="Open Sans Bold" charset="1" panose="020B0806030504020204"/>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 Id="rId7" Target="../media/image9.png" Type="http://schemas.openxmlformats.org/officeDocument/2006/relationships/image"/><Relationship Id="rId8" Target="../media/image10.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 Id="rId7" Target="../media/image9.png" Type="http://schemas.openxmlformats.org/officeDocument/2006/relationships/image"/><Relationship Id="rId8" Target="../media/image10.svg" Type="http://schemas.openxmlformats.org/officeDocument/2006/relationships/image"/><Relationship Id="rId9" Target="../media/image11.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 Id="rId7" Target="../media/image9.png" Type="http://schemas.openxmlformats.org/officeDocument/2006/relationships/image"/><Relationship Id="rId8" Target="../media/image10.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 Id="rId7" Target="../media/image9.png" Type="http://schemas.openxmlformats.org/officeDocument/2006/relationships/image"/><Relationship Id="rId8" Target="../media/image10.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 Id="rId7" Target="../media/image9.png" Type="http://schemas.openxmlformats.org/officeDocument/2006/relationships/image"/><Relationship Id="rId8" Target="../media/image10.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 Id="rId7" Target="../media/image9.png" Type="http://schemas.openxmlformats.org/officeDocument/2006/relationships/image"/><Relationship Id="rId8" Target="../media/image10.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 Id="rId7" Target="../media/image9.png" Type="http://schemas.openxmlformats.org/officeDocument/2006/relationships/image"/><Relationship Id="rId8" Target="../media/image10.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 Id="rId7" Target="../media/image9.png" Type="http://schemas.openxmlformats.org/officeDocument/2006/relationships/image"/><Relationship Id="rId8" Target="../media/image10.svg" Type="http://schemas.openxmlformats.org/officeDocument/2006/relationships/image"/><Relationship Id="rId9" Target="../media/image1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 Id="rId7" Target="../media/image9.png" Type="http://schemas.openxmlformats.org/officeDocument/2006/relationships/image"/><Relationship Id="rId8" Target="../media/image10.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 Id="rId7" Target="../media/image9.png" Type="http://schemas.openxmlformats.org/officeDocument/2006/relationships/image"/><Relationship Id="rId8" Target="../media/image10.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EFF3EF"/>
        </a:solidFill>
      </p:bgPr>
    </p:bg>
    <p:spTree>
      <p:nvGrpSpPr>
        <p:cNvPr id="1" name=""/>
        <p:cNvGrpSpPr/>
        <p:nvPr/>
      </p:nvGrpSpPr>
      <p:grpSpPr>
        <a:xfrm>
          <a:off x="0" y="0"/>
          <a:ext cx="0" cy="0"/>
          <a:chOff x="0" y="0"/>
          <a:chExt cx="0" cy="0"/>
        </a:xfrm>
      </p:grpSpPr>
      <p:sp>
        <p:nvSpPr>
          <p:cNvPr name="Freeform 2" id="2"/>
          <p:cNvSpPr/>
          <p:nvPr/>
        </p:nvSpPr>
        <p:spPr>
          <a:xfrm flipH="false" flipV="false" rot="0">
            <a:off x="-401237" y="6580264"/>
            <a:ext cx="8299885" cy="4322857"/>
          </a:xfrm>
          <a:custGeom>
            <a:avLst/>
            <a:gdLst/>
            <a:ahLst/>
            <a:cxnLst/>
            <a:rect r="r" b="b" t="t" l="l"/>
            <a:pathLst>
              <a:path h="4322857" w="8299885">
                <a:moveTo>
                  <a:pt x="0" y="0"/>
                </a:moveTo>
                <a:lnTo>
                  <a:pt x="8299885" y="0"/>
                </a:lnTo>
                <a:lnTo>
                  <a:pt x="8299885" y="4322857"/>
                </a:lnTo>
                <a:lnTo>
                  <a:pt x="0" y="4322857"/>
                </a:lnTo>
                <a:lnTo>
                  <a:pt x="0" y="0"/>
                </a:lnTo>
                <a:close/>
              </a:path>
            </a:pathLst>
          </a:custGeom>
          <a:blipFill>
            <a:blip r:embed="rId2"/>
            <a:stretch>
              <a:fillRect l="0" t="0" r="0" b="0"/>
            </a:stretch>
          </a:blipFill>
        </p:spPr>
      </p:sp>
      <p:sp>
        <p:nvSpPr>
          <p:cNvPr name="TextBox 3" id="3"/>
          <p:cNvSpPr txBox="true"/>
          <p:nvPr/>
        </p:nvSpPr>
        <p:spPr>
          <a:xfrm rot="0">
            <a:off x="2594305" y="2972646"/>
            <a:ext cx="13306378" cy="1866556"/>
          </a:xfrm>
          <a:prstGeom prst="rect">
            <a:avLst/>
          </a:prstGeom>
        </p:spPr>
        <p:txBody>
          <a:bodyPr anchor="t" rtlCol="false" tIns="0" lIns="0" bIns="0" rIns="0">
            <a:spAutoFit/>
          </a:bodyPr>
          <a:lstStyle/>
          <a:p>
            <a:pPr algn="ctr">
              <a:lnSpc>
                <a:spcPts val="6353"/>
              </a:lnSpc>
            </a:pPr>
            <a:r>
              <a:rPr lang="en-US" sz="8042">
                <a:solidFill>
                  <a:srgbClr val="044A6A"/>
                </a:solidFill>
                <a:latin typeface="Times New Roman MT"/>
                <a:ea typeface="Times New Roman MT"/>
                <a:cs typeface="Times New Roman MT"/>
                <a:sym typeface="Times New Roman MT"/>
              </a:rPr>
              <a:t> AirAware - Smart Air Quality Prediction System</a:t>
            </a:r>
          </a:p>
        </p:txBody>
      </p:sp>
      <p:sp>
        <p:nvSpPr>
          <p:cNvPr name="Freeform 4" id="4"/>
          <p:cNvSpPr/>
          <p:nvPr/>
        </p:nvSpPr>
        <p:spPr>
          <a:xfrm flipH="false" flipV="false" rot="0">
            <a:off x="9938761" y="-1400690"/>
            <a:ext cx="9778768" cy="4000405"/>
          </a:xfrm>
          <a:custGeom>
            <a:avLst/>
            <a:gdLst/>
            <a:ahLst/>
            <a:cxnLst/>
            <a:rect r="r" b="b" t="t" l="l"/>
            <a:pathLst>
              <a:path h="4000405" w="9778768">
                <a:moveTo>
                  <a:pt x="0" y="0"/>
                </a:moveTo>
                <a:lnTo>
                  <a:pt x="9778767" y="0"/>
                </a:lnTo>
                <a:lnTo>
                  <a:pt x="9778767" y="4000405"/>
                </a:lnTo>
                <a:lnTo>
                  <a:pt x="0" y="400040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4181932">
            <a:off x="-3481942" y="-599422"/>
            <a:ext cx="9021285" cy="5969359"/>
          </a:xfrm>
          <a:custGeom>
            <a:avLst/>
            <a:gdLst/>
            <a:ahLst/>
            <a:cxnLst/>
            <a:rect r="r" b="b" t="t" l="l"/>
            <a:pathLst>
              <a:path h="5969359" w="9021285">
                <a:moveTo>
                  <a:pt x="0" y="0"/>
                </a:moveTo>
                <a:lnTo>
                  <a:pt x="9021284" y="0"/>
                </a:lnTo>
                <a:lnTo>
                  <a:pt x="9021284" y="5969359"/>
                </a:lnTo>
                <a:lnTo>
                  <a:pt x="0" y="5969359"/>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2505715" y="7319535"/>
            <a:ext cx="12032406" cy="1784213"/>
          </a:xfrm>
          <a:prstGeom prst="rect">
            <a:avLst/>
          </a:prstGeom>
        </p:spPr>
        <p:txBody>
          <a:bodyPr anchor="t" rtlCol="false" tIns="0" lIns="0" bIns="0" rIns="0">
            <a:spAutoFit/>
          </a:bodyPr>
          <a:lstStyle/>
          <a:p>
            <a:pPr algn="l">
              <a:lnSpc>
                <a:spcPts val="3507"/>
              </a:lnSpc>
            </a:pPr>
            <a:r>
              <a:rPr lang="en-US" sz="2505" spc="27">
                <a:solidFill>
                  <a:srgbClr val="044A6A"/>
                </a:solidFill>
                <a:latin typeface="Nice"/>
                <a:ea typeface="Nice"/>
                <a:cs typeface="Nice"/>
                <a:sym typeface="Nice"/>
              </a:rPr>
              <a:t>NAME: SAHIL CHOUDHARY</a:t>
            </a:r>
          </a:p>
          <a:p>
            <a:pPr algn="l">
              <a:lnSpc>
                <a:spcPts val="3507"/>
              </a:lnSpc>
            </a:pPr>
            <a:r>
              <a:rPr lang="en-US" sz="2505" spc="27">
                <a:solidFill>
                  <a:srgbClr val="044A6A"/>
                </a:solidFill>
                <a:latin typeface="Nice"/>
                <a:ea typeface="Nice"/>
                <a:cs typeface="Nice"/>
                <a:sym typeface="Nice"/>
              </a:rPr>
              <a:t>TEAM NO. 2</a:t>
            </a:r>
          </a:p>
          <a:p>
            <a:pPr algn="l">
              <a:lnSpc>
                <a:spcPts val="3507"/>
              </a:lnSpc>
            </a:pPr>
            <a:r>
              <a:rPr lang="en-US" sz="2505" spc="27">
                <a:solidFill>
                  <a:srgbClr val="044A6A"/>
                </a:solidFill>
                <a:latin typeface="Nice"/>
                <a:ea typeface="Nice"/>
                <a:cs typeface="Nice"/>
                <a:sym typeface="Nice"/>
              </a:rPr>
              <a:t>PROJECT NAME: AIRAWARE - SMART AIR QUALITY PREDICTION SYSTEM</a:t>
            </a:r>
          </a:p>
          <a:p>
            <a:pPr algn="l">
              <a:lnSpc>
                <a:spcPts val="3507"/>
              </a:lnSpc>
            </a:pPr>
          </a:p>
        </p:txBody>
      </p:sp>
      <p:sp>
        <p:nvSpPr>
          <p:cNvPr name="Freeform 7" id="7"/>
          <p:cNvSpPr/>
          <p:nvPr/>
        </p:nvSpPr>
        <p:spPr>
          <a:xfrm flipH="false" flipV="false" rot="-4181932">
            <a:off x="12198850" y="5490538"/>
            <a:ext cx="9021285" cy="5969359"/>
          </a:xfrm>
          <a:custGeom>
            <a:avLst/>
            <a:gdLst/>
            <a:ahLst/>
            <a:cxnLst/>
            <a:rect r="r" b="b" t="t" l="l"/>
            <a:pathLst>
              <a:path h="5969359" w="9021285">
                <a:moveTo>
                  <a:pt x="0" y="0"/>
                </a:moveTo>
                <a:lnTo>
                  <a:pt x="9021284" y="0"/>
                </a:lnTo>
                <a:lnTo>
                  <a:pt x="9021284" y="5969359"/>
                </a:lnTo>
                <a:lnTo>
                  <a:pt x="0" y="5969359"/>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8" id="8"/>
          <p:cNvSpPr txBox="true"/>
          <p:nvPr/>
        </p:nvSpPr>
        <p:spPr>
          <a:xfrm rot="0">
            <a:off x="8241654" y="1462920"/>
            <a:ext cx="2011680" cy="1530350"/>
          </a:xfrm>
          <a:prstGeom prst="rect">
            <a:avLst/>
          </a:prstGeom>
        </p:spPr>
        <p:txBody>
          <a:bodyPr anchor="t" rtlCol="false" tIns="0" lIns="0" bIns="0" rIns="0">
            <a:spAutoFit/>
          </a:bodyPr>
          <a:lstStyle/>
          <a:p>
            <a:pPr algn="ctr">
              <a:lnSpc>
                <a:spcPts val="11200"/>
              </a:lnSpc>
              <a:spcBef>
                <a:spcPct val="0"/>
              </a:spcBef>
            </a:pPr>
            <a:r>
              <a:rPr lang="en-US" sz="8000">
                <a:solidFill>
                  <a:srgbClr val="044A6A"/>
                </a:solidFill>
                <a:latin typeface="Times New Roman MT"/>
                <a:ea typeface="Times New Roman MT"/>
                <a:cs typeface="Times New Roman MT"/>
                <a:sym typeface="Times New Roman MT"/>
              </a:rPr>
              <a:t>Title</a:t>
            </a:r>
          </a:p>
        </p:txBody>
      </p:sp>
      <p:sp>
        <p:nvSpPr>
          <p:cNvPr name="TextBox 9" id="9"/>
          <p:cNvSpPr txBox="true"/>
          <p:nvPr/>
        </p:nvSpPr>
        <p:spPr>
          <a:xfrm rot="0">
            <a:off x="6827151" y="4514894"/>
            <a:ext cx="4633697" cy="813262"/>
          </a:xfrm>
          <a:prstGeom prst="rect">
            <a:avLst/>
          </a:prstGeom>
        </p:spPr>
        <p:txBody>
          <a:bodyPr anchor="t" rtlCol="false" tIns="0" lIns="0" bIns="0" rIns="0">
            <a:spAutoFit/>
          </a:bodyPr>
          <a:lstStyle/>
          <a:p>
            <a:pPr algn="ctr">
              <a:lnSpc>
                <a:spcPts val="5911"/>
              </a:lnSpc>
              <a:spcBef>
                <a:spcPct val="0"/>
              </a:spcBef>
            </a:pPr>
            <a:r>
              <a:rPr lang="en-US" sz="4222">
                <a:solidFill>
                  <a:srgbClr val="044A6A"/>
                </a:solidFill>
                <a:latin typeface="Times New Roman MT"/>
                <a:ea typeface="Times New Roman MT"/>
                <a:cs typeface="Times New Roman MT"/>
                <a:sym typeface="Times New Roman MT"/>
              </a:rPr>
              <a:t>Infosys Springboard</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EFF3EF"/>
        </a:solidFill>
      </p:bgPr>
    </p:bg>
    <p:spTree>
      <p:nvGrpSpPr>
        <p:cNvPr id="1" name=""/>
        <p:cNvGrpSpPr/>
        <p:nvPr/>
      </p:nvGrpSpPr>
      <p:grpSpPr>
        <a:xfrm>
          <a:off x="0" y="0"/>
          <a:ext cx="0" cy="0"/>
          <a:chOff x="0" y="0"/>
          <a:chExt cx="0" cy="0"/>
        </a:xfrm>
      </p:grpSpPr>
      <p:sp>
        <p:nvSpPr>
          <p:cNvPr name="TextBox 2" id="2"/>
          <p:cNvSpPr txBox="true"/>
          <p:nvPr/>
        </p:nvSpPr>
        <p:spPr>
          <a:xfrm rot="0">
            <a:off x="5804041" y="723176"/>
            <a:ext cx="6545941" cy="1195734"/>
          </a:xfrm>
          <a:prstGeom prst="rect">
            <a:avLst/>
          </a:prstGeom>
        </p:spPr>
        <p:txBody>
          <a:bodyPr anchor="t" rtlCol="false" tIns="0" lIns="0" bIns="0" rIns="0">
            <a:spAutoFit/>
          </a:bodyPr>
          <a:lstStyle/>
          <a:p>
            <a:pPr algn="ctr">
              <a:lnSpc>
                <a:spcPts val="7760"/>
              </a:lnSpc>
            </a:pPr>
            <a:r>
              <a:rPr lang="en-US" sz="8001">
                <a:solidFill>
                  <a:srgbClr val="003352"/>
                </a:solidFill>
                <a:latin typeface="Times New Roman MT"/>
                <a:ea typeface="Times New Roman MT"/>
                <a:cs typeface="Times New Roman MT"/>
                <a:sym typeface="Times New Roman MT"/>
              </a:rPr>
              <a:t>Introduction</a:t>
            </a:r>
          </a:p>
        </p:txBody>
      </p:sp>
      <p:sp>
        <p:nvSpPr>
          <p:cNvPr name="TextBox 3" id="3"/>
          <p:cNvSpPr txBox="true"/>
          <p:nvPr/>
        </p:nvSpPr>
        <p:spPr>
          <a:xfrm rot="0">
            <a:off x="1379337" y="2453271"/>
            <a:ext cx="15879963" cy="5912864"/>
          </a:xfrm>
          <a:prstGeom prst="rect">
            <a:avLst/>
          </a:prstGeom>
        </p:spPr>
        <p:txBody>
          <a:bodyPr anchor="t" rtlCol="false" tIns="0" lIns="0" bIns="0" rIns="0">
            <a:spAutoFit/>
          </a:bodyPr>
          <a:lstStyle/>
          <a:p>
            <a:pPr algn="just">
              <a:lnSpc>
                <a:spcPts val="3269"/>
              </a:lnSpc>
            </a:pPr>
            <a:r>
              <a:rPr lang="en-US" sz="2335" spc="25">
                <a:solidFill>
                  <a:srgbClr val="000000"/>
                </a:solidFill>
                <a:latin typeface="Open Sans"/>
                <a:ea typeface="Open Sans"/>
                <a:cs typeface="Open Sans"/>
                <a:sym typeface="Open Sans"/>
              </a:rPr>
              <a:t>Air Aware is a smart, AI-powered web-based system designed to monitor, analyse, and forecast air quality in real time. The platform integrates Machine Learning (ML), modern web technologies, APIs, and databases to deliver accurate Air Quality Index (AQI) predictions to users.</a:t>
            </a:r>
          </a:p>
          <a:p>
            <a:pPr algn="just">
              <a:lnSpc>
                <a:spcPts val="3269"/>
              </a:lnSpc>
            </a:pPr>
            <a:r>
              <a:rPr lang="en-US" sz="2335" spc="25">
                <a:solidFill>
                  <a:srgbClr val="000000"/>
                </a:solidFill>
                <a:latin typeface="Open Sans"/>
                <a:ea typeface="Open Sans"/>
                <a:cs typeface="Open Sans"/>
                <a:sym typeface="Open Sans"/>
              </a:rPr>
              <a:t>The system processes pollutant data such as PM2.5, PM10, NO2, SO2, CO, and Ozone, collected from datasets (Kaggle) and real-time sensors. After processing the input using ML models, Air Aware provides:</a:t>
            </a:r>
          </a:p>
          <a:p>
            <a:pPr algn="just">
              <a:lnSpc>
                <a:spcPts val="3269"/>
              </a:lnSpc>
            </a:pPr>
          </a:p>
          <a:p>
            <a:pPr algn="just">
              <a:lnSpc>
                <a:spcPts val="3619"/>
              </a:lnSpc>
            </a:pPr>
            <a:r>
              <a:rPr lang="en-US" sz="2335" spc="25">
                <a:solidFill>
                  <a:srgbClr val="000000"/>
                </a:solidFill>
                <a:latin typeface="Open Sans"/>
                <a:ea typeface="Open Sans"/>
                <a:cs typeface="Open Sans"/>
                <a:sym typeface="Open Sans"/>
              </a:rPr>
              <a:t>·Real-time AQI</a:t>
            </a:r>
          </a:p>
          <a:p>
            <a:pPr algn="just">
              <a:lnSpc>
                <a:spcPts val="3619"/>
              </a:lnSpc>
            </a:pPr>
            <a:r>
              <a:rPr lang="en-US" sz="2335" spc="25">
                <a:solidFill>
                  <a:srgbClr val="000000"/>
                </a:solidFill>
                <a:latin typeface="Open Sans"/>
                <a:ea typeface="Open Sans"/>
                <a:cs typeface="Open Sans"/>
                <a:sym typeface="Open Sans"/>
              </a:rPr>
              <a:t>·Future AQI forecast</a:t>
            </a:r>
          </a:p>
          <a:p>
            <a:pPr algn="just">
              <a:lnSpc>
                <a:spcPts val="3619"/>
              </a:lnSpc>
            </a:pPr>
            <a:r>
              <a:rPr lang="en-US" sz="2335" spc="25">
                <a:solidFill>
                  <a:srgbClr val="000000"/>
                </a:solidFill>
                <a:latin typeface="Open Sans"/>
                <a:ea typeface="Open Sans"/>
                <a:cs typeface="Open Sans"/>
                <a:sym typeface="Open Sans"/>
              </a:rPr>
              <a:t>·Weather conditions (Sunny, Rainy, Cloudy, etc.)</a:t>
            </a:r>
          </a:p>
          <a:p>
            <a:pPr algn="just">
              <a:lnSpc>
                <a:spcPts val="3619"/>
              </a:lnSpc>
            </a:pPr>
            <a:r>
              <a:rPr lang="en-US" sz="2335" spc="25">
                <a:solidFill>
                  <a:srgbClr val="000000"/>
                </a:solidFill>
                <a:latin typeface="Open Sans"/>
                <a:ea typeface="Open Sans"/>
                <a:cs typeface="Open Sans"/>
                <a:sym typeface="Open Sans"/>
              </a:rPr>
              <a:t>·Health implications (Safe / Unsafe to inhale)</a:t>
            </a:r>
          </a:p>
          <a:p>
            <a:pPr algn="just">
              <a:lnSpc>
                <a:spcPts val="3269"/>
              </a:lnSpc>
            </a:pPr>
            <a:r>
              <a:rPr lang="en-US" sz="2335" spc="25">
                <a:solidFill>
                  <a:srgbClr val="000000"/>
                </a:solidFill>
                <a:latin typeface="Open Sans"/>
                <a:ea typeface="Open Sans"/>
                <a:cs typeface="Open Sans"/>
                <a:sym typeface="Open Sans"/>
              </a:rPr>
              <a:t>The goal is to achieve 95–98% model accuracy and provide interactive dashboards for clean and meaningful insights to the user.</a:t>
            </a:r>
          </a:p>
          <a:p>
            <a:pPr algn="just">
              <a:lnSpc>
                <a:spcPts val="3269"/>
              </a:lnSpc>
            </a:pPr>
          </a:p>
          <a:p>
            <a:pPr algn="just">
              <a:lnSpc>
                <a:spcPts val="3269"/>
              </a:lnSpc>
            </a:pPr>
          </a:p>
        </p:txBody>
      </p:sp>
      <p:sp>
        <p:nvSpPr>
          <p:cNvPr name="Freeform 4" id="4"/>
          <p:cNvSpPr/>
          <p:nvPr/>
        </p:nvSpPr>
        <p:spPr>
          <a:xfrm flipH="false" flipV="false" rot="0">
            <a:off x="8262240" y="6110626"/>
            <a:ext cx="10166061" cy="5523560"/>
          </a:xfrm>
          <a:custGeom>
            <a:avLst/>
            <a:gdLst/>
            <a:ahLst/>
            <a:cxnLst/>
            <a:rect r="r" b="b" t="t" l="l"/>
            <a:pathLst>
              <a:path h="5523560" w="10166061">
                <a:moveTo>
                  <a:pt x="0" y="0"/>
                </a:moveTo>
                <a:lnTo>
                  <a:pt x="10166061" y="0"/>
                </a:lnTo>
                <a:lnTo>
                  <a:pt x="10166061" y="5523560"/>
                </a:lnTo>
                <a:lnTo>
                  <a:pt x="0" y="5523560"/>
                </a:lnTo>
                <a:lnTo>
                  <a:pt x="0" y="0"/>
                </a:lnTo>
                <a:close/>
              </a:path>
            </a:pathLst>
          </a:custGeom>
          <a:blipFill>
            <a:blip r:embed="rId2"/>
            <a:stretch>
              <a:fillRect l="0" t="0" r="0" b="0"/>
            </a:stretch>
          </a:blipFill>
        </p:spPr>
      </p:sp>
      <p:sp>
        <p:nvSpPr>
          <p:cNvPr name="Freeform 5" id="5"/>
          <p:cNvSpPr/>
          <p:nvPr/>
        </p:nvSpPr>
        <p:spPr>
          <a:xfrm flipH="false" flipV="false" rot="-3689918">
            <a:off x="-4236951" y="-2796009"/>
            <a:ext cx="9021285" cy="5969359"/>
          </a:xfrm>
          <a:custGeom>
            <a:avLst/>
            <a:gdLst/>
            <a:ahLst/>
            <a:cxnLst/>
            <a:rect r="r" b="b" t="t" l="l"/>
            <a:pathLst>
              <a:path h="5969359" w="9021285">
                <a:moveTo>
                  <a:pt x="0" y="0"/>
                </a:moveTo>
                <a:lnTo>
                  <a:pt x="9021284" y="0"/>
                </a:lnTo>
                <a:lnTo>
                  <a:pt x="9021284" y="5969359"/>
                </a:lnTo>
                <a:lnTo>
                  <a:pt x="0" y="596935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16251113" y="-2195890"/>
            <a:ext cx="6200384" cy="4114800"/>
          </a:xfrm>
          <a:custGeom>
            <a:avLst/>
            <a:gdLst/>
            <a:ahLst/>
            <a:cxnLst/>
            <a:rect r="r" b="b" t="t" l="l"/>
            <a:pathLst>
              <a:path h="4114800" w="6200384">
                <a:moveTo>
                  <a:pt x="0" y="0"/>
                </a:moveTo>
                <a:lnTo>
                  <a:pt x="6200383" y="0"/>
                </a:lnTo>
                <a:lnTo>
                  <a:pt x="6200383"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false" flipV="false" rot="0">
            <a:off x="-1764947" y="6875720"/>
            <a:ext cx="4577317" cy="6822560"/>
          </a:xfrm>
          <a:custGeom>
            <a:avLst/>
            <a:gdLst/>
            <a:ahLst/>
            <a:cxnLst/>
            <a:rect r="r" b="b" t="t" l="l"/>
            <a:pathLst>
              <a:path h="6822560" w="4577317">
                <a:moveTo>
                  <a:pt x="0" y="0"/>
                </a:moveTo>
                <a:lnTo>
                  <a:pt x="4577317" y="0"/>
                </a:lnTo>
                <a:lnTo>
                  <a:pt x="4577317" y="6822560"/>
                </a:lnTo>
                <a:lnTo>
                  <a:pt x="0" y="68225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EFF3EF"/>
        </a:solidFill>
      </p:bgPr>
    </p:bg>
    <p:spTree>
      <p:nvGrpSpPr>
        <p:cNvPr id="1" name=""/>
        <p:cNvGrpSpPr/>
        <p:nvPr/>
      </p:nvGrpSpPr>
      <p:grpSpPr>
        <a:xfrm>
          <a:off x="0" y="0"/>
          <a:ext cx="0" cy="0"/>
          <a:chOff x="0" y="0"/>
          <a:chExt cx="0" cy="0"/>
        </a:xfrm>
      </p:grpSpPr>
      <p:sp>
        <p:nvSpPr>
          <p:cNvPr name="TextBox 2" id="2"/>
          <p:cNvSpPr txBox="true"/>
          <p:nvPr/>
        </p:nvSpPr>
        <p:spPr>
          <a:xfrm rot="0">
            <a:off x="2690789" y="2946366"/>
            <a:ext cx="9408658" cy="4917451"/>
          </a:xfrm>
          <a:prstGeom prst="rect">
            <a:avLst/>
          </a:prstGeom>
        </p:spPr>
        <p:txBody>
          <a:bodyPr anchor="t" rtlCol="false" tIns="0" lIns="0" bIns="0" rIns="0">
            <a:spAutoFit/>
          </a:bodyPr>
          <a:lstStyle/>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Citizens and authorities lack access to predictive AQI information, which limits timely preventive measures.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H</a:t>
            </a:r>
            <a:r>
              <a:rPr lang="en-US" sz="2524" spc="27">
                <a:solidFill>
                  <a:srgbClr val="000000"/>
                </a:solidFill>
                <a:latin typeface="Open Sans"/>
                <a:ea typeface="Open Sans"/>
                <a:cs typeface="Open Sans"/>
                <a:sym typeface="Open Sans"/>
              </a:rPr>
              <a:t>igh pollution levels can impact public health and urban planning.</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Maha</a:t>
            </a:r>
            <a:r>
              <a:rPr lang="en-US" sz="2524" spc="27">
                <a:solidFill>
                  <a:srgbClr val="000000"/>
                </a:solidFill>
                <a:latin typeface="Open Sans"/>
                <a:ea typeface="Open Sans"/>
                <a:cs typeface="Open Sans"/>
                <a:sym typeface="Open Sans"/>
              </a:rPr>
              <a:t>rashtra faces industrial emissions, vehicular pollution, and seasonal dust increasing AQI levels.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There is a need for an intelligent system to predict air quality and provide interactive visualization.</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The challenge is to integrate historical AQI data with an ML model and present it in an intuitive dashboard.</a:t>
            </a:r>
          </a:p>
          <a:p>
            <a:pPr algn="l">
              <a:lnSpc>
                <a:spcPts val="3534"/>
              </a:lnSpc>
            </a:pPr>
          </a:p>
        </p:txBody>
      </p:sp>
      <p:sp>
        <p:nvSpPr>
          <p:cNvPr name="Freeform 3" id="3"/>
          <p:cNvSpPr/>
          <p:nvPr/>
        </p:nvSpPr>
        <p:spPr>
          <a:xfrm flipH="false" flipV="false" rot="0">
            <a:off x="8671203" y="6110626"/>
            <a:ext cx="10166061" cy="5523560"/>
          </a:xfrm>
          <a:custGeom>
            <a:avLst/>
            <a:gdLst/>
            <a:ahLst/>
            <a:cxnLst/>
            <a:rect r="r" b="b" t="t" l="l"/>
            <a:pathLst>
              <a:path h="5523560" w="10166061">
                <a:moveTo>
                  <a:pt x="0" y="0"/>
                </a:moveTo>
                <a:lnTo>
                  <a:pt x="10166061" y="0"/>
                </a:lnTo>
                <a:lnTo>
                  <a:pt x="10166061" y="5523560"/>
                </a:lnTo>
                <a:lnTo>
                  <a:pt x="0" y="5523560"/>
                </a:lnTo>
                <a:lnTo>
                  <a:pt x="0" y="0"/>
                </a:lnTo>
                <a:close/>
              </a:path>
            </a:pathLst>
          </a:custGeom>
          <a:blipFill>
            <a:blip r:embed="rId2"/>
            <a:stretch>
              <a:fillRect l="0" t="0" r="0" b="0"/>
            </a:stretch>
          </a:blipFill>
        </p:spPr>
      </p:sp>
      <p:sp>
        <p:nvSpPr>
          <p:cNvPr name="Freeform 4" id="4"/>
          <p:cNvSpPr/>
          <p:nvPr/>
        </p:nvSpPr>
        <p:spPr>
          <a:xfrm flipH="false" flipV="false" rot="-3689918">
            <a:off x="-3481942" y="-1490472"/>
            <a:ext cx="9021285" cy="5969359"/>
          </a:xfrm>
          <a:custGeom>
            <a:avLst/>
            <a:gdLst/>
            <a:ahLst/>
            <a:cxnLst/>
            <a:rect r="r" b="b" t="t" l="l"/>
            <a:pathLst>
              <a:path h="5969359" w="9021285">
                <a:moveTo>
                  <a:pt x="0" y="0"/>
                </a:moveTo>
                <a:lnTo>
                  <a:pt x="9021284" y="0"/>
                </a:lnTo>
                <a:lnTo>
                  <a:pt x="9021284" y="5969359"/>
                </a:lnTo>
                <a:lnTo>
                  <a:pt x="0" y="596935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4159108" y="-745882"/>
            <a:ext cx="6200384" cy="4114800"/>
          </a:xfrm>
          <a:custGeom>
            <a:avLst/>
            <a:gdLst/>
            <a:ahLst/>
            <a:cxnLst/>
            <a:rect r="r" b="b" t="t" l="l"/>
            <a:pathLst>
              <a:path h="4114800" w="6200384">
                <a:moveTo>
                  <a:pt x="0" y="0"/>
                </a:moveTo>
                <a:lnTo>
                  <a:pt x="6200384" y="0"/>
                </a:lnTo>
                <a:lnTo>
                  <a:pt x="620038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764947" y="6875720"/>
            <a:ext cx="4577317" cy="6822560"/>
          </a:xfrm>
          <a:custGeom>
            <a:avLst/>
            <a:gdLst/>
            <a:ahLst/>
            <a:cxnLst/>
            <a:rect r="r" b="b" t="t" l="l"/>
            <a:pathLst>
              <a:path h="6822560" w="4577317">
                <a:moveTo>
                  <a:pt x="0" y="0"/>
                </a:moveTo>
                <a:lnTo>
                  <a:pt x="4577317" y="0"/>
                </a:lnTo>
                <a:lnTo>
                  <a:pt x="4577317" y="6822560"/>
                </a:lnTo>
                <a:lnTo>
                  <a:pt x="0" y="68225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7" id="7"/>
          <p:cNvSpPr/>
          <p:nvPr/>
        </p:nvSpPr>
        <p:spPr>
          <a:xfrm flipH="false" flipV="false" rot="0">
            <a:off x="11937172" y="5143500"/>
            <a:ext cx="5930630" cy="3321153"/>
          </a:xfrm>
          <a:custGeom>
            <a:avLst/>
            <a:gdLst/>
            <a:ahLst/>
            <a:cxnLst/>
            <a:rect r="r" b="b" t="t" l="l"/>
            <a:pathLst>
              <a:path h="3321153" w="5930630">
                <a:moveTo>
                  <a:pt x="0" y="0"/>
                </a:moveTo>
                <a:lnTo>
                  <a:pt x="5930630" y="0"/>
                </a:lnTo>
                <a:lnTo>
                  <a:pt x="5930630" y="3321153"/>
                </a:lnTo>
                <a:lnTo>
                  <a:pt x="0" y="3321153"/>
                </a:lnTo>
                <a:lnTo>
                  <a:pt x="0" y="0"/>
                </a:lnTo>
                <a:close/>
              </a:path>
            </a:pathLst>
          </a:custGeom>
          <a:blipFill>
            <a:blip r:embed="rId9"/>
            <a:stretch>
              <a:fillRect l="0" t="0" r="0" b="0"/>
            </a:stretch>
          </a:blipFill>
        </p:spPr>
      </p:sp>
      <p:sp>
        <p:nvSpPr>
          <p:cNvPr name="TextBox 8" id="8"/>
          <p:cNvSpPr txBox="true"/>
          <p:nvPr/>
        </p:nvSpPr>
        <p:spPr>
          <a:xfrm rot="0">
            <a:off x="5131750" y="1025513"/>
            <a:ext cx="8417734" cy="1195706"/>
          </a:xfrm>
          <a:prstGeom prst="rect">
            <a:avLst/>
          </a:prstGeom>
        </p:spPr>
        <p:txBody>
          <a:bodyPr anchor="t" rtlCol="false" tIns="0" lIns="0" bIns="0" rIns="0">
            <a:spAutoFit/>
          </a:bodyPr>
          <a:lstStyle/>
          <a:p>
            <a:pPr algn="ctr">
              <a:lnSpc>
                <a:spcPts val="7760"/>
              </a:lnSpc>
            </a:pPr>
            <a:r>
              <a:rPr lang="en-US" sz="8000">
                <a:solidFill>
                  <a:srgbClr val="003352"/>
                </a:solidFill>
                <a:latin typeface="Times New Roman MT"/>
                <a:ea typeface="Times New Roman MT"/>
                <a:cs typeface="Times New Roman MT"/>
                <a:sym typeface="Times New Roman MT"/>
              </a:rPr>
              <a:t>Problem Statement</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EFF3EF"/>
        </a:solidFill>
      </p:bgPr>
    </p:bg>
    <p:spTree>
      <p:nvGrpSpPr>
        <p:cNvPr id="1" name=""/>
        <p:cNvGrpSpPr/>
        <p:nvPr/>
      </p:nvGrpSpPr>
      <p:grpSpPr>
        <a:xfrm>
          <a:off x="0" y="0"/>
          <a:ext cx="0" cy="0"/>
          <a:chOff x="0" y="0"/>
          <a:chExt cx="0" cy="0"/>
        </a:xfrm>
      </p:grpSpPr>
      <p:sp>
        <p:nvSpPr>
          <p:cNvPr name="TextBox 2" id="2"/>
          <p:cNvSpPr txBox="true"/>
          <p:nvPr/>
        </p:nvSpPr>
        <p:spPr>
          <a:xfrm rot="0">
            <a:off x="3885241" y="1385639"/>
            <a:ext cx="10517519" cy="1195706"/>
          </a:xfrm>
          <a:prstGeom prst="rect">
            <a:avLst/>
          </a:prstGeom>
        </p:spPr>
        <p:txBody>
          <a:bodyPr anchor="t" rtlCol="false" tIns="0" lIns="0" bIns="0" rIns="0">
            <a:spAutoFit/>
          </a:bodyPr>
          <a:lstStyle/>
          <a:p>
            <a:pPr algn="ctr">
              <a:lnSpc>
                <a:spcPts val="7760"/>
              </a:lnSpc>
            </a:pPr>
            <a:r>
              <a:rPr lang="en-US" sz="8000">
                <a:solidFill>
                  <a:srgbClr val="003352"/>
                </a:solidFill>
                <a:latin typeface="Times New Roman MT"/>
                <a:ea typeface="Times New Roman MT"/>
                <a:cs typeface="Times New Roman MT"/>
                <a:sym typeface="Times New Roman MT"/>
              </a:rPr>
              <a:t>Project Objectives</a:t>
            </a:r>
          </a:p>
        </p:txBody>
      </p:sp>
      <p:sp>
        <p:nvSpPr>
          <p:cNvPr name="TextBox 3" id="3"/>
          <p:cNvSpPr txBox="true"/>
          <p:nvPr/>
        </p:nvSpPr>
        <p:spPr>
          <a:xfrm rot="0">
            <a:off x="3452219" y="3311768"/>
            <a:ext cx="10950540" cy="4469776"/>
          </a:xfrm>
          <a:prstGeom prst="rect">
            <a:avLst/>
          </a:prstGeom>
        </p:spPr>
        <p:txBody>
          <a:bodyPr anchor="t" rtlCol="false" tIns="0" lIns="0" bIns="0" rIns="0">
            <a:spAutoFit/>
          </a:bodyPr>
          <a:lstStyle/>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Design a smart air quality prediction system for Maharashtra cities.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Bu</a:t>
            </a:r>
            <a:r>
              <a:rPr lang="en-US" sz="2524" spc="27">
                <a:solidFill>
                  <a:srgbClr val="000000"/>
                </a:solidFill>
                <a:latin typeface="Open Sans"/>
                <a:ea typeface="Open Sans"/>
                <a:cs typeface="Open Sans"/>
                <a:sym typeface="Open Sans"/>
              </a:rPr>
              <a:t>ild an interactive dashboard to visualize city-wise AQI with animated gauges, color-coded metrics, and flip cards.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Use hist</a:t>
            </a:r>
            <a:r>
              <a:rPr lang="en-US" sz="2524" spc="27">
                <a:solidFill>
                  <a:srgbClr val="000000"/>
                </a:solidFill>
                <a:latin typeface="Open Sans"/>
                <a:ea typeface="Open Sans"/>
                <a:cs typeface="Open Sans"/>
                <a:sym typeface="Open Sans"/>
              </a:rPr>
              <a:t>orical AQI datasets to train ML models and predict future AQI levels.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Help citizens take precautionary measures and authorities plan pollution control policies.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Ensure the system is user-friendly, visually appealing, and responsive for desktop and mobile.</a:t>
            </a:r>
          </a:p>
          <a:p>
            <a:pPr algn="l">
              <a:lnSpc>
                <a:spcPts val="3534"/>
              </a:lnSpc>
            </a:pPr>
          </a:p>
        </p:txBody>
      </p:sp>
      <p:sp>
        <p:nvSpPr>
          <p:cNvPr name="Freeform 4" id="4"/>
          <p:cNvSpPr/>
          <p:nvPr/>
        </p:nvSpPr>
        <p:spPr>
          <a:xfrm flipH="false" flipV="false" rot="0">
            <a:off x="8262240" y="6110626"/>
            <a:ext cx="10166061" cy="5523560"/>
          </a:xfrm>
          <a:custGeom>
            <a:avLst/>
            <a:gdLst/>
            <a:ahLst/>
            <a:cxnLst/>
            <a:rect r="r" b="b" t="t" l="l"/>
            <a:pathLst>
              <a:path h="5523560" w="10166061">
                <a:moveTo>
                  <a:pt x="0" y="0"/>
                </a:moveTo>
                <a:lnTo>
                  <a:pt x="10166061" y="0"/>
                </a:lnTo>
                <a:lnTo>
                  <a:pt x="10166061" y="5523560"/>
                </a:lnTo>
                <a:lnTo>
                  <a:pt x="0" y="5523560"/>
                </a:lnTo>
                <a:lnTo>
                  <a:pt x="0" y="0"/>
                </a:lnTo>
                <a:close/>
              </a:path>
            </a:pathLst>
          </a:custGeom>
          <a:blipFill>
            <a:blip r:embed="rId2"/>
            <a:stretch>
              <a:fillRect l="0" t="0" r="0" b="0"/>
            </a:stretch>
          </a:blipFill>
        </p:spPr>
      </p:sp>
      <p:sp>
        <p:nvSpPr>
          <p:cNvPr name="Freeform 5" id="5"/>
          <p:cNvSpPr/>
          <p:nvPr/>
        </p:nvSpPr>
        <p:spPr>
          <a:xfrm flipH="false" flipV="false" rot="-3689918">
            <a:off x="-3481942" y="-1490472"/>
            <a:ext cx="9021285" cy="5969359"/>
          </a:xfrm>
          <a:custGeom>
            <a:avLst/>
            <a:gdLst/>
            <a:ahLst/>
            <a:cxnLst/>
            <a:rect r="r" b="b" t="t" l="l"/>
            <a:pathLst>
              <a:path h="5969359" w="9021285">
                <a:moveTo>
                  <a:pt x="0" y="0"/>
                </a:moveTo>
                <a:lnTo>
                  <a:pt x="9021284" y="0"/>
                </a:lnTo>
                <a:lnTo>
                  <a:pt x="9021284" y="5969359"/>
                </a:lnTo>
                <a:lnTo>
                  <a:pt x="0" y="596935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14159108" y="-745882"/>
            <a:ext cx="6200384" cy="4114800"/>
          </a:xfrm>
          <a:custGeom>
            <a:avLst/>
            <a:gdLst/>
            <a:ahLst/>
            <a:cxnLst/>
            <a:rect r="r" b="b" t="t" l="l"/>
            <a:pathLst>
              <a:path h="4114800" w="6200384">
                <a:moveTo>
                  <a:pt x="0" y="0"/>
                </a:moveTo>
                <a:lnTo>
                  <a:pt x="6200384" y="0"/>
                </a:lnTo>
                <a:lnTo>
                  <a:pt x="620038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false" flipV="false" rot="0">
            <a:off x="-1764947" y="6875720"/>
            <a:ext cx="4577317" cy="6822560"/>
          </a:xfrm>
          <a:custGeom>
            <a:avLst/>
            <a:gdLst/>
            <a:ahLst/>
            <a:cxnLst/>
            <a:rect r="r" b="b" t="t" l="l"/>
            <a:pathLst>
              <a:path h="6822560" w="4577317">
                <a:moveTo>
                  <a:pt x="0" y="0"/>
                </a:moveTo>
                <a:lnTo>
                  <a:pt x="4577317" y="0"/>
                </a:lnTo>
                <a:lnTo>
                  <a:pt x="4577317" y="6822560"/>
                </a:lnTo>
                <a:lnTo>
                  <a:pt x="0" y="68225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EFF3EF"/>
        </a:solidFill>
      </p:bgPr>
    </p:bg>
    <p:spTree>
      <p:nvGrpSpPr>
        <p:cNvPr id="1" name=""/>
        <p:cNvGrpSpPr/>
        <p:nvPr/>
      </p:nvGrpSpPr>
      <p:grpSpPr>
        <a:xfrm>
          <a:off x="0" y="0"/>
          <a:ext cx="0" cy="0"/>
          <a:chOff x="0" y="0"/>
          <a:chExt cx="0" cy="0"/>
        </a:xfrm>
      </p:grpSpPr>
      <p:sp>
        <p:nvSpPr>
          <p:cNvPr name="TextBox 2" id="2"/>
          <p:cNvSpPr txBox="true"/>
          <p:nvPr/>
        </p:nvSpPr>
        <p:spPr>
          <a:xfrm rot="0">
            <a:off x="4754245" y="905880"/>
            <a:ext cx="8779509" cy="1195706"/>
          </a:xfrm>
          <a:prstGeom prst="rect">
            <a:avLst/>
          </a:prstGeom>
        </p:spPr>
        <p:txBody>
          <a:bodyPr anchor="t" rtlCol="false" tIns="0" lIns="0" bIns="0" rIns="0">
            <a:spAutoFit/>
          </a:bodyPr>
          <a:lstStyle/>
          <a:p>
            <a:pPr algn="ctr">
              <a:lnSpc>
                <a:spcPts val="7760"/>
              </a:lnSpc>
            </a:pPr>
            <a:r>
              <a:rPr lang="en-US" sz="8000">
                <a:solidFill>
                  <a:srgbClr val="003352"/>
                </a:solidFill>
                <a:latin typeface="Times New Roman MT"/>
                <a:ea typeface="Times New Roman MT"/>
                <a:cs typeface="Times New Roman MT"/>
                <a:sym typeface="Times New Roman MT"/>
              </a:rPr>
              <a:t>Technologies Used</a:t>
            </a:r>
          </a:p>
        </p:txBody>
      </p:sp>
      <p:sp>
        <p:nvSpPr>
          <p:cNvPr name="Freeform 3" id="3"/>
          <p:cNvSpPr/>
          <p:nvPr/>
        </p:nvSpPr>
        <p:spPr>
          <a:xfrm flipH="false" flipV="false" rot="0">
            <a:off x="8262240" y="6110626"/>
            <a:ext cx="10166061" cy="5523560"/>
          </a:xfrm>
          <a:custGeom>
            <a:avLst/>
            <a:gdLst/>
            <a:ahLst/>
            <a:cxnLst/>
            <a:rect r="r" b="b" t="t" l="l"/>
            <a:pathLst>
              <a:path h="5523560" w="10166061">
                <a:moveTo>
                  <a:pt x="0" y="0"/>
                </a:moveTo>
                <a:lnTo>
                  <a:pt x="10166061" y="0"/>
                </a:lnTo>
                <a:lnTo>
                  <a:pt x="10166061" y="5523560"/>
                </a:lnTo>
                <a:lnTo>
                  <a:pt x="0" y="5523560"/>
                </a:lnTo>
                <a:lnTo>
                  <a:pt x="0" y="0"/>
                </a:lnTo>
                <a:close/>
              </a:path>
            </a:pathLst>
          </a:custGeom>
          <a:blipFill>
            <a:blip r:embed="rId2"/>
            <a:stretch>
              <a:fillRect l="0" t="0" r="0" b="0"/>
            </a:stretch>
          </a:blipFill>
        </p:spPr>
      </p:sp>
      <p:sp>
        <p:nvSpPr>
          <p:cNvPr name="Freeform 4" id="4"/>
          <p:cNvSpPr/>
          <p:nvPr/>
        </p:nvSpPr>
        <p:spPr>
          <a:xfrm flipH="false" flipV="false" rot="-3689918">
            <a:off x="-3481942" y="-1490472"/>
            <a:ext cx="9021285" cy="5969359"/>
          </a:xfrm>
          <a:custGeom>
            <a:avLst/>
            <a:gdLst/>
            <a:ahLst/>
            <a:cxnLst/>
            <a:rect r="r" b="b" t="t" l="l"/>
            <a:pathLst>
              <a:path h="5969359" w="9021285">
                <a:moveTo>
                  <a:pt x="0" y="0"/>
                </a:moveTo>
                <a:lnTo>
                  <a:pt x="9021284" y="0"/>
                </a:lnTo>
                <a:lnTo>
                  <a:pt x="9021284" y="5969359"/>
                </a:lnTo>
                <a:lnTo>
                  <a:pt x="0" y="596935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4159108" y="-745882"/>
            <a:ext cx="6200384" cy="4114800"/>
          </a:xfrm>
          <a:custGeom>
            <a:avLst/>
            <a:gdLst/>
            <a:ahLst/>
            <a:cxnLst/>
            <a:rect r="r" b="b" t="t" l="l"/>
            <a:pathLst>
              <a:path h="4114800" w="6200384">
                <a:moveTo>
                  <a:pt x="0" y="0"/>
                </a:moveTo>
                <a:lnTo>
                  <a:pt x="6200384" y="0"/>
                </a:lnTo>
                <a:lnTo>
                  <a:pt x="620038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764947" y="6875720"/>
            <a:ext cx="4577317" cy="6822560"/>
          </a:xfrm>
          <a:custGeom>
            <a:avLst/>
            <a:gdLst/>
            <a:ahLst/>
            <a:cxnLst/>
            <a:rect r="r" b="b" t="t" l="l"/>
            <a:pathLst>
              <a:path h="6822560" w="4577317">
                <a:moveTo>
                  <a:pt x="0" y="0"/>
                </a:moveTo>
                <a:lnTo>
                  <a:pt x="4577317" y="0"/>
                </a:lnTo>
                <a:lnTo>
                  <a:pt x="4577317" y="6822560"/>
                </a:lnTo>
                <a:lnTo>
                  <a:pt x="0" y="68225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7" id="7"/>
          <p:cNvSpPr txBox="true"/>
          <p:nvPr/>
        </p:nvSpPr>
        <p:spPr>
          <a:xfrm rot="0">
            <a:off x="2595344" y="2568340"/>
            <a:ext cx="12457466" cy="5276851"/>
          </a:xfrm>
          <a:prstGeom prst="rect">
            <a:avLst/>
          </a:prstGeom>
        </p:spPr>
        <p:txBody>
          <a:bodyPr anchor="t" rtlCol="false" tIns="0" lIns="0" bIns="0" rIns="0">
            <a:spAutoFit/>
          </a:bodyPr>
          <a:lstStyle/>
          <a:p>
            <a:pPr algn="l">
              <a:lnSpc>
                <a:spcPts val="4199"/>
              </a:lnSpc>
            </a:pPr>
            <a:r>
              <a:rPr lang="en-US" sz="2999" b="true">
                <a:solidFill>
                  <a:srgbClr val="000000"/>
                </a:solidFill>
                <a:latin typeface="Times New Roman MT Bold"/>
                <a:ea typeface="Times New Roman MT Bold"/>
                <a:cs typeface="Times New Roman MT Bold"/>
                <a:sym typeface="Times New Roman MT Bold"/>
              </a:rPr>
              <a:t>Content:</a:t>
            </a:r>
          </a:p>
          <a:p>
            <a:pPr algn="l" marL="647694" indent="-323847" lvl="1">
              <a:lnSpc>
                <a:spcPts val="4199"/>
              </a:lnSpc>
              <a:buFont typeface="Arial"/>
              <a:buChar char="•"/>
            </a:pPr>
            <a:r>
              <a:rPr lang="en-US" sz="2999">
                <a:solidFill>
                  <a:srgbClr val="000000"/>
                </a:solidFill>
                <a:latin typeface="Times New Roman MT"/>
                <a:ea typeface="Times New Roman MT"/>
                <a:cs typeface="Times New Roman MT"/>
                <a:sym typeface="Times New Roman MT"/>
              </a:rPr>
              <a:t>Frontend: HTML, CSS, JavaScript, React for an interactive dashboard.</a:t>
            </a:r>
          </a:p>
          <a:p>
            <a:pPr algn="l" marL="647694" indent="-323847" lvl="1">
              <a:lnSpc>
                <a:spcPts val="4199"/>
              </a:lnSpc>
              <a:buFont typeface="Arial"/>
              <a:buChar char="•"/>
            </a:pPr>
            <a:r>
              <a:rPr lang="en-US" sz="2999">
                <a:solidFill>
                  <a:srgbClr val="000000"/>
                </a:solidFill>
                <a:latin typeface="Times New Roman MT"/>
                <a:ea typeface="Times New Roman MT"/>
                <a:cs typeface="Times New Roman MT"/>
                <a:sym typeface="Times New Roman MT"/>
              </a:rPr>
              <a:t>Backend: Python for data processing and AQI prediction.</a:t>
            </a:r>
          </a:p>
          <a:p>
            <a:pPr algn="l" marL="647694" indent="-323847" lvl="1">
              <a:lnSpc>
                <a:spcPts val="4199"/>
              </a:lnSpc>
              <a:spcBef>
                <a:spcPct val="0"/>
              </a:spcBef>
              <a:buFont typeface="Arial"/>
              <a:buChar char="•"/>
            </a:pPr>
            <a:r>
              <a:rPr lang="en-US" sz="2999">
                <a:solidFill>
                  <a:srgbClr val="000000"/>
                </a:solidFill>
                <a:latin typeface="Times New Roman MT"/>
                <a:ea typeface="Times New Roman MT"/>
                <a:cs typeface="Times New Roman MT"/>
                <a:sym typeface="Times New Roman MT"/>
              </a:rPr>
              <a:t>Database: CSV/SQL for storing historical AQI data of Maharashtra cities.</a:t>
            </a:r>
          </a:p>
          <a:p>
            <a:pPr algn="l" marL="647694" indent="-323847" lvl="1">
              <a:lnSpc>
                <a:spcPts val="4199"/>
              </a:lnSpc>
              <a:spcBef>
                <a:spcPct val="0"/>
              </a:spcBef>
              <a:buFont typeface="Arial"/>
              <a:buChar char="•"/>
            </a:pPr>
            <a:r>
              <a:rPr lang="en-US" sz="2999">
                <a:solidFill>
                  <a:srgbClr val="000000"/>
                </a:solidFill>
                <a:latin typeface="Times New Roman MT"/>
                <a:ea typeface="Times New Roman MT"/>
                <a:cs typeface="Times New Roman MT"/>
                <a:sym typeface="Times New Roman MT"/>
              </a:rPr>
              <a:t>Machine Learning Libraries: Pandas, Numpy, etc </a:t>
            </a:r>
          </a:p>
          <a:p>
            <a:pPr algn="l" marL="647694" indent="-323847" lvl="1">
              <a:lnSpc>
                <a:spcPts val="4199"/>
              </a:lnSpc>
              <a:spcBef>
                <a:spcPct val="0"/>
              </a:spcBef>
              <a:buFont typeface="Arial"/>
              <a:buChar char="•"/>
            </a:pPr>
            <a:r>
              <a:rPr lang="en-US" sz="2999">
                <a:solidFill>
                  <a:srgbClr val="000000"/>
                </a:solidFill>
                <a:latin typeface="Times New Roman MT"/>
                <a:ea typeface="Times New Roman MT"/>
                <a:cs typeface="Times New Roman MT"/>
                <a:sym typeface="Times New Roman MT"/>
              </a:rPr>
              <a:t>Visualization: Flip cards, animated AQI gauges, and interactive charts.</a:t>
            </a:r>
          </a:p>
          <a:p>
            <a:pPr algn="l" marL="647694" indent="-323847" lvl="1">
              <a:lnSpc>
                <a:spcPts val="4199"/>
              </a:lnSpc>
              <a:spcBef>
                <a:spcPct val="0"/>
              </a:spcBef>
              <a:buFont typeface="Arial"/>
              <a:buChar char="•"/>
            </a:pPr>
            <a:r>
              <a:rPr lang="en-US" sz="2999">
                <a:solidFill>
                  <a:srgbClr val="000000"/>
                </a:solidFill>
                <a:latin typeface="Times New Roman MT"/>
                <a:ea typeface="Times New Roman MT"/>
                <a:cs typeface="Times New Roman MT"/>
                <a:sym typeface="Times New Roman MT"/>
              </a:rPr>
              <a:t>The stack ensures smooth user experience, accurate predictions, and real-time visualization.</a:t>
            </a:r>
          </a:p>
          <a:p>
            <a:pPr algn="l">
              <a:lnSpc>
                <a:spcPts val="4199"/>
              </a:lnSpc>
              <a:spcBef>
                <a:spcPct val="0"/>
              </a:spcBef>
            </a:pP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EFF3EF"/>
        </a:solidFill>
      </p:bgPr>
    </p:bg>
    <p:spTree>
      <p:nvGrpSpPr>
        <p:cNvPr id="1" name=""/>
        <p:cNvGrpSpPr/>
        <p:nvPr/>
      </p:nvGrpSpPr>
      <p:grpSpPr>
        <a:xfrm>
          <a:off x="0" y="0"/>
          <a:ext cx="0" cy="0"/>
          <a:chOff x="0" y="0"/>
          <a:chExt cx="0" cy="0"/>
        </a:xfrm>
      </p:grpSpPr>
      <p:sp>
        <p:nvSpPr>
          <p:cNvPr name="TextBox 2" id="2"/>
          <p:cNvSpPr txBox="true"/>
          <p:nvPr/>
        </p:nvSpPr>
        <p:spPr>
          <a:xfrm rot="0">
            <a:off x="5804041" y="723190"/>
            <a:ext cx="6545941" cy="1195706"/>
          </a:xfrm>
          <a:prstGeom prst="rect">
            <a:avLst/>
          </a:prstGeom>
        </p:spPr>
        <p:txBody>
          <a:bodyPr anchor="t" rtlCol="false" tIns="0" lIns="0" bIns="0" rIns="0">
            <a:spAutoFit/>
          </a:bodyPr>
          <a:lstStyle/>
          <a:p>
            <a:pPr algn="ctr">
              <a:lnSpc>
                <a:spcPts val="7760"/>
              </a:lnSpc>
            </a:pPr>
            <a:r>
              <a:rPr lang="en-US" sz="8000">
                <a:solidFill>
                  <a:srgbClr val="003352"/>
                </a:solidFill>
                <a:latin typeface="Times New Roman MT"/>
                <a:ea typeface="Times New Roman MT"/>
                <a:cs typeface="Times New Roman MT"/>
                <a:sym typeface="Times New Roman MT"/>
              </a:rPr>
              <a:t>Dataset Used</a:t>
            </a:r>
          </a:p>
        </p:txBody>
      </p:sp>
      <p:sp>
        <p:nvSpPr>
          <p:cNvPr name="TextBox 3" id="3"/>
          <p:cNvSpPr txBox="true"/>
          <p:nvPr/>
        </p:nvSpPr>
        <p:spPr>
          <a:xfrm rot="0">
            <a:off x="1654834" y="3311768"/>
            <a:ext cx="8039693" cy="6260477"/>
          </a:xfrm>
          <a:prstGeom prst="rect">
            <a:avLst/>
          </a:prstGeom>
        </p:spPr>
        <p:txBody>
          <a:bodyPr anchor="t" rtlCol="false" tIns="0" lIns="0" bIns="0" rIns="0">
            <a:spAutoFit/>
          </a:bodyPr>
          <a:lstStyle/>
          <a:p>
            <a:pPr algn="l">
              <a:lnSpc>
                <a:spcPts val="3534"/>
              </a:lnSpc>
            </a:pPr>
            <a:r>
              <a:rPr lang="en-US" sz="2524" spc="27">
                <a:solidFill>
                  <a:srgbClr val="000000"/>
                </a:solidFill>
                <a:latin typeface="Open Sans"/>
                <a:ea typeface="Open Sans"/>
                <a:cs typeface="Open Sans"/>
                <a:sym typeface="Open Sans"/>
              </a:rPr>
              <a:t>Source: Maharashtra state AQI historical data (PM2.5, PM10, CO, NO2).</a:t>
            </a:r>
          </a:p>
          <a:p>
            <a:pPr algn="l">
              <a:lnSpc>
                <a:spcPts val="3534"/>
              </a:lnSpc>
            </a:pPr>
            <a:r>
              <a:rPr lang="en-US" sz="2524" spc="27" b="true">
                <a:solidFill>
                  <a:srgbClr val="000000"/>
                </a:solidFill>
                <a:latin typeface="Open Sans Bold"/>
                <a:ea typeface="Open Sans Bold"/>
                <a:cs typeface="Open Sans Bold"/>
                <a:sym typeface="Open Sans Bold"/>
              </a:rPr>
              <a:t>Feature</a:t>
            </a:r>
            <a:r>
              <a:rPr lang="en-US" sz="2524" spc="27" b="true">
                <a:solidFill>
                  <a:srgbClr val="000000"/>
                </a:solidFill>
                <a:latin typeface="Open Sans Bold"/>
                <a:ea typeface="Open Sans Bold"/>
                <a:cs typeface="Open Sans Bold"/>
                <a:sym typeface="Open Sans Bold"/>
              </a:rPr>
              <a:t>s included:</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City Name</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D</a:t>
            </a:r>
            <a:r>
              <a:rPr lang="en-US" sz="2524" spc="27">
                <a:solidFill>
                  <a:srgbClr val="000000"/>
                </a:solidFill>
                <a:latin typeface="Open Sans"/>
                <a:ea typeface="Open Sans"/>
                <a:cs typeface="Open Sans"/>
                <a:sym typeface="Open Sans"/>
              </a:rPr>
              <a:t>ate &amp; Time</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PM2.5, PM10, CO, NO2 values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Calculated AQI</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Time span: Several years of data for accurate predictions.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Dataset used for training ML models and creating interactive city AQI dashboards.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Ensures rob</a:t>
            </a:r>
            <a:r>
              <a:rPr lang="en-US" sz="2524" spc="27">
                <a:solidFill>
                  <a:srgbClr val="000000"/>
                </a:solidFill>
                <a:latin typeface="Open Sans"/>
                <a:ea typeface="Open Sans"/>
                <a:cs typeface="Open Sans"/>
                <a:sym typeface="Open Sans"/>
              </a:rPr>
              <a:t>ust prediction by incorporating seasonal and city-specific variations.</a:t>
            </a:r>
          </a:p>
          <a:p>
            <a:pPr algn="l">
              <a:lnSpc>
                <a:spcPts val="3534"/>
              </a:lnSpc>
            </a:pPr>
          </a:p>
        </p:txBody>
      </p:sp>
      <p:sp>
        <p:nvSpPr>
          <p:cNvPr name="Freeform 4" id="4"/>
          <p:cNvSpPr/>
          <p:nvPr/>
        </p:nvSpPr>
        <p:spPr>
          <a:xfrm flipH="false" flipV="false" rot="0">
            <a:off x="8262240" y="6110626"/>
            <a:ext cx="10166061" cy="5523560"/>
          </a:xfrm>
          <a:custGeom>
            <a:avLst/>
            <a:gdLst/>
            <a:ahLst/>
            <a:cxnLst/>
            <a:rect r="r" b="b" t="t" l="l"/>
            <a:pathLst>
              <a:path h="5523560" w="10166061">
                <a:moveTo>
                  <a:pt x="0" y="0"/>
                </a:moveTo>
                <a:lnTo>
                  <a:pt x="10166061" y="0"/>
                </a:lnTo>
                <a:lnTo>
                  <a:pt x="10166061" y="5523560"/>
                </a:lnTo>
                <a:lnTo>
                  <a:pt x="0" y="5523560"/>
                </a:lnTo>
                <a:lnTo>
                  <a:pt x="0" y="0"/>
                </a:lnTo>
                <a:close/>
              </a:path>
            </a:pathLst>
          </a:custGeom>
          <a:blipFill>
            <a:blip r:embed="rId2"/>
            <a:stretch>
              <a:fillRect l="0" t="0" r="0" b="0"/>
            </a:stretch>
          </a:blipFill>
        </p:spPr>
      </p:sp>
      <p:sp>
        <p:nvSpPr>
          <p:cNvPr name="Freeform 5" id="5"/>
          <p:cNvSpPr/>
          <p:nvPr/>
        </p:nvSpPr>
        <p:spPr>
          <a:xfrm flipH="false" flipV="false" rot="-3689918">
            <a:off x="-3481942" y="-1490472"/>
            <a:ext cx="9021285" cy="5969359"/>
          </a:xfrm>
          <a:custGeom>
            <a:avLst/>
            <a:gdLst/>
            <a:ahLst/>
            <a:cxnLst/>
            <a:rect r="r" b="b" t="t" l="l"/>
            <a:pathLst>
              <a:path h="5969359" w="9021285">
                <a:moveTo>
                  <a:pt x="0" y="0"/>
                </a:moveTo>
                <a:lnTo>
                  <a:pt x="9021284" y="0"/>
                </a:lnTo>
                <a:lnTo>
                  <a:pt x="9021284" y="5969359"/>
                </a:lnTo>
                <a:lnTo>
                  <a:pt x="0" y="596935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14159108" y="-745882"/>
            <a:ext cx="6200384" cy="4114800"/>
          </a:xfrm>
          <a:custGeom>
            <a:avLst/>
            <a:gdLst/>
            <a:ahLst/>
            <a:cxnLst/>
            <a:rect r="r" b="b" t="t" l="l"/>
            <a:pathLst>
              <a:path h="4114800" w="6200384">
                <a:moveTo>
                  <a:pt x="0" y="0"/>
                </a:moveTo>
                <a:lnTo>
                  <a:pt x="6200384" y="0"/>
                </a:lnTo>
                <a:lnTo>
                  <a:pt x="620038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false" flipV="false" rot="0">
            <a:off x="-2110993" y="7190307"/>
            <a:ext cx="4577317" cy="6822560"/>
          </a:xfrm>
          <a:custGeom>
            <a:avLst/>
            <a:gdLst/>
            <a:ahLst/>
            <a:cxnLst/>
            <a:rect r="r" b="b" t="t" l="l"/>
            <a:pathLst>
              <a:path h="6822560" w="4577317">
                <a:moveTo>
                  <a:pt x="0" y="0"/>
                </a:moveTo>
                <a:lnTo>
                  <a:pt x="4577318" y="0"/>
                </a:lnTo>
                <a:lnTo>
                  <a:pt x="4577318" y="6822560"/>
                </a:lnTo>
                <a:lnTo>
                  <a:pt x="0" y="68225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8" id="8"/>
          <p:cNvSpPr txBox="true"/>
          <p:nvPr/>
        </p:nvSpPr>
        <p:spPr>
          <a:xfrm rot="0">
            <a:off x="9920114" y="3447378"/>
            <a:ext cx="7339186" cy="3564830"/>
          </a:xfrm>
          <a:prstGeom prst="rect">
            <a:avLst/>
          </a:prstGeom>
        </p:spPr>
        <p:txBody>
          <a:bodyPr anchor="t" rtlCol="false" tIns="0" lIns="0" bIns="0" rIns="0">
            <a:spAutoFit/>
          </a:bodyPr>
          <a:lstStyle/>
          <a:p>
            <a:pPr algn="l">
              <a:lnSpc>
                <a:spcPts val="3538"/>
              </a:lnSpc>
              <a:spcBef>
                <a:spcPct val="0"/>
              </a:spcBef>
            </a:pPr>
            <a:r>
              <a:rPr lang="en-US" sz="2527">
                <a:solidFill>
                  <a:srgbClr val="000000"/>
                </a:solidFill>
                <a:latin typeface="Open Sans"/>
                <a:ea typeface="Open Sans"/>
                <a:cs typeface="Open Sans"/>
                <a:sym typeface="Open Sans"/>
              </a:rPr>
              <a:t>Using MySQL</a:t>
            </a:r>
          </a:p>
          <a:p>
            <a:pPr algn="l">
              <a:lnSpc>
                <a:spcPts val="3538"/>
              </a:lnSpc>
              <a:spcBef>
                <a:spcPct val="0"/>
              </a:spcBef>
            </a:pPr>
            <a:r>
              <a:rPr lang="en-US" sz="2527">
                <a:solidFill>
                  <a:srgbClr val="000000"/>
                </a:solidFill>
                <a:latin typeface="Open Sans"/>
                <a:ea typeface="Open Sans"/>
                <a:cs typeface="Open Sans"/>
                <a:sym typeface="Open Sans"/>
              </a:rPr>
              <a:t>Cleaned dataset stored for faster querying</a:t>
            </a:r>
          </a:p>
          <a:p>
            <a:pPr algn="l">
              <a:lnSpc>
                <a:spcPts val="3538"/>
              </a:lnSpc>
              <a:spcBef>
                <a:spcPct val="0"/>
              </a:spcBef>
            </a:pPr>
            <a:r>
              <a:rPr lang="en-US" sz="2527">
                <a:solidFill>
                  <a:srgbClr val="000000"/>
                </a:solidFill>
                <a:latin typeface="Open Sans"/>
                <a:ea typeface="Open Sans"/>
                <a:cs typeface="Open Sans"/>
                <a:sym typeface="Open Sans"/>
              </a:rPr>
              <a:t>Supports:</a:t>
            </a:r>
          </a:p>
          <a:p>
            <a:pPr algn="l" marL="545661" indent="-272831" lvl="1">
              <a:lnSpc>
                <a:spcPts val="3538"/>
              </a:lnSpc>
              <a:buFont typeface="Arial"/>
              <a:buChar char="•"/>
            </a:pPr>
            <a:r>
              <a:rPr lang="en-US" sz="2527">
                <a:solidFill>
                  <a:srgbClr val="000000"/>
                </a:solidFill>
                <a:latin typeface="Open Sans"/>
                <a:ea typeface="Open Sans"/>
                <a:cs typeface="Open Sans"/>
                <a:sym typeface="Open Sans"/>
              </a:rPr>
              <a:t>city-wise filtering</a:t>
            </a:r>
          </a:p>
          <a:p>
            <a:pPr algn="l" marL="545661" indent="-272831" lvl="1">
              <a:lnSpc>
                <a:spcPts val="3538"/>
              </a:lnSpc>
              <a:buFont typeface="Arial"/>
              <a:buChar char="•"/>
            </a:pPr>
            <a:r>
              <a:rPr lang="en-US" sz="2527">
                <a:solidFill>
                  <a:srgbClr val="000000"/>
                </a:solidFill>
                <a:latin typeface="Open Sans"/>
                <a:ea typeface="Open Sans"/>
                <a:cs typeface="Open Sans"/>
                <a:sym typeface="Open Sans"/>
              </a:rPr>
              <a:t>pollutant-wise filtering</a:t>
            </a:r>
          </a:p>
          <a:p>
            <a:pPr algn="l" marL="545661" indent="-272831" lvl="1">
              <a:lnSpc>
                <a:spcPts val="3538"/>
              </a:lnSpc>
              <a:buFont typeface="Arial"/>
              <a:buChar char="•"/>
            </a:pPr>
            <a:r>
              <a:rPr lang="en-US" sz="2527">
                <a:solidFill>
                  <a:srgbClr val="000000"/>
                </a:solidFill>
                <a:latin typeface="Open Sans"/>
                <a:ea typeface="Open Sans"/>
                <a:cs typeface="Open Sans"/>
                <a:sym typeface="Open Sans"/>
              </a:rPr>
              <a:t>date-wise filtering</a:t>
            </a:r>
          </a:p>
          <a:p>
            <a:pPr algn="l" marL="545661" indent="-272831" lvl="1">
              <a:lnSpc>
                <a:spcPts val="3538"/>
              </a:lnSpc>
              <a:buFont typeface="Arial"/>
              <a:buChar char="•"/>
            </a:pPr>
            <a:r>
              <a:rPr lang="en-US" sz="2527">
                <a:solidFill>
                  <a:srgbClr val="000000"/>
                </a:solidFill>
                <a:latin typeface="Open Sans"/>
                <a:ea typeface="Open Sans"/>
                <a:cs typeface="Open Sans"/>
                <a:sym typeface="Open Sans"/>
              </a:rPr>
              <a:t>Backend fetches data directly from cleaned database</a:t>
            </a:r>
          </a:p>
        </p:txBody>
      </p:sp>
      <p:sp>
        <p:nvSpPr>
          <p:cNvPr name="TextBox 9" id="9"/>
          <p:cNvSpPr txBox="true"/>
          <p:nvPr/>
        </p:nvSpPr>
        <p:spPr>
          <a:xfrm rot="0">
            <a:off x="4097844" y="2583104"/>
            <a:ext cx="1241743" cy="561976"/>
          </a:xfrm>
          <a:prstGeom prst="rect">
            <a:avLst/>
          </a:prstGeom>
        </p:spPr>
        <p:txBody>
          <a:bodyPr anchor="t" rtlCol="false" tIns="0" lIns="0" bIns="0" rIns="0">
            <a:spAutoFit/>
          </a:bodyPr>
          <a:lstStyle/>
          <a:p>
            <a:pPr algn="ctr">
              <a:lnSpc>
                <a:spcPts val="4199"/>
              </a:lnSpc>
              <a:spcBef>
                <a:spcPct val="0"/>
              </a:spcBef>
            </a:pPr>
            <a:r>
              <a:rPr lang="en-US" b="true" sz="2999">
                <a:solidFill>
                  <a:srgbClr val="000000"/>
                </a:solidFill>
                <a:latin typeface="Times New Roman MT Bold"/>
                <a:ea typeface="Times New Roman MT Bold"/>
                <a:cs typeface="Times New Roman MT Bold"/>
                <a:sym typeface="Times New Roman MT Bold"/>
              </a:rPr>
              <a:t>Dataset</a:t>
            </a:r>
          </a:p>
        </p:txBody>
      </p:sp>
      <p:sp>
        <p:nvSpPr>
          <p:cNvPr name="TextBox 10" id="10"/>
          <p:cNvSpPr txBox="true"/>
          <p:nvPr/>
        </p:nvSpPr>
        <p:spPr>
          <a:xfrm rot="0">
            <a:off x="11334632" y="2583104"/>
            <a:ext cx="1495901" cy="561976"/>
          </a:xfrm>
          <a:prstGeom prst="rect">
            <a:avLst/>
          </a:prstGeom>
        </p:spPr>
        <p:txBody>
          <a:bodyPr anchor="t" rtlCol="false" tIns="0" lIns="0" bIns="0" rIns="0">
            <a:spAutoFit/>
          </a:bodyPr>
          <a:lstStyle/>
          <a:p>
            <a:pPr algn="ctr">
              <a:lnSpc>
                <a:spcPts val="4199"/>
              </a:lnSpc>
              <a:spcBef>
                <a:spcPct val="0"/>
              </a:spcBef>
            </a:pPr>
            <a:r>
              <a:rPr lang="en-US" b="true" sz="2999">
                <a:solidFill>
                  <a:srgbClr val="000000"/>
                </a:solidFill>
                <a:latin typeface="Times New Roman MT Bold"/>
                <a:ea typeface="Times New Roman MT Bold"/>
                <a:cs typeface="Times New Roman MT Bold"/>
                <a:sym typeface="Times New Roman MT Bold"/>
              </a:rPr>
              <a:t>Database</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EFF3EF"/>
        </a:solidFill>
      </p:bgPr>
    </p:bg>
    <p:spTree>
      <p:nvGrpSpPr>
        <p:cNvPr id="1" name=""/>
        <p:cNvGrpSpPr/>
        <p:nvPr/>
      </p:nvGrpSpPr>
      <p:grpSpPr>
        <a:xfrm>
          <a:off x="0" y="0"/>
          <a:ext cx="0" cy="0"/>
          <a:chOff x="0" y="0"/>
          <a:chExt cx="0" cy="0"/>
        </a:xfrm>
      </p:grpSpPr>
      <p:sp>
        <p:nvSpPr>
          <p:cNvPr name="TextBox 2" id="2"/>
          <p:cNvSpPr txBox="true"/>
          <p:nvPr/>
        </p:nvSpPr>
        <p:spPr>
          <a:xfrm rot="0">
            <a:off x="4038741" y="665566"/>
            <a:ext cx="10633065" cy="2176781"/>
          </a:xfrm>
          <a:prstGeom prst="rect">
            <a:avLst/>
          </a:prstGeom>
        </p:spPr>
        <p:txBody>
          <a:bodyPr anchor="t" rtlCol="false" tIns="0" lIns="0" bIns="0" rIns="0">
            <a:spAutoFit/>
          </a:bodyPr>
          <a:lstStyle/>
          <a:p>
            <a:pPr algn="ctr">
              <a:lnSpc>
                <a:spcPts val="7760"/>
              </a:lnSpc>
            </a:pPr>
            <a:r>
              <a:rPr lang="en-US" sz="8000">
                <a:solidFill>
                  <a:srgbClr val="003352"/>
                </a:solidFill>
                <a:latin typeface="Times New Roman MT"/>
                <a:ea typeface="Times New Roman MT"/>
                <a:cs typeface="Times New Roman MT"/>
                <a:sym typeface="Times New Roman MT"/>
              </a:rPr>
              <a:t>Frontend Overview and Features</a:t>
            </a:r>
          </a:p>
        </p:txBody>
      </p:sp>
      <p:sp>
        <p:nvSpPr>
          <p:cNvPr name="TextBox 3" id="3"/>
          <p:cNvSpPr txBox="true"/>
          <p:nvPr/>
        </p:nvSpPr>
        <p:spPr>
          <a:xfrm rot="0">
            <a:off x="1653577" y="3658300"/>
            <a:ext cx="8091407" cy="4140846"/>
          </a:xfrm>
          <a:prstGeom prst="rect">
            <a:avLst/>
          </a:prstGeom>
        </p:spPr>
        <p:txBody>
          <a:bodyPr anchor="t" rtlCol="false" tIns="0" lIns="0" bIns="0" rIns="0">
            <a:spAutoFit/>
          </a:bodyPr>
          <a:lstStyle/>
          <a:p>
            <a:pPr algn="ctr">
              <a:lnSpc>
                <a:spcPts val="4094"/>
              </a:lnSpc>
            </a:pPr>
            <a:r>
              <a:rPr lang="en-US" b="true" sz="2924" spc="32">
                <a:solidFill>
                  <a:srgbClr val="000000"/>
                </a:solidFill>
                <a:latin typeface="Times New Roman MT Bold"/>
                <a:ea typeface="Times New Roman MT Bold"/>
                <a:cs typeface="Times New Roman MT Bold"/>
                <a:sym typeface="Times New Roman MT Bold"/>
              </a:rPr>
              <a:t>Overview</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Developed using HTML, CSS, JavaScript</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Fully responsive layout</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Real-time AQI dashboard</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Charts to visualize pollutant trends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Filters: city, date range, pollutant type</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Intuitive UI suitable for mobile and desktop</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Modular and reusable components</a:t>
            </a:r>
          </a:p>
          <a:p>
            <a:pPr algn="l">
              <a:lnSpc>
                <a:spcPts val="3534"/>
              </a:lnSpc>
            </a:pPr>
          </a:p>
        </p:txBody>
      </p:sp>
      <p:sp>
        <p:nvSpPr>
          <p:cNvPr name="Freeform 4" id="4"/>
          <p:cNvSpPr/>
          <p:nvPr/>
        </p:nvSpPr>
        <p:spPr>
          <a:xfrm flipH="false" flipV="false" rot="0">
            <a:off x="9076078" y="6875720"/>
            <a:ext cx="10166061" cy="5523560"/>
          </a:xfrm>
          <a:custGeom>
            <a:avLst/>
            <a:gdLst/>
            <a:ahLst/>
            <a:cxnLst/>
            <a:rect r="r" b="b" t="t" l="l"/>
            <a:pathLst>
              <a:path h="5523560" w="10166061">
                <a:moveTo>
                  <a:pt x="0" y="0"/>
                </a:moveTo>
                <a:lnTo>
                  <a:pt x="10166061" y="0"/>
                </a:lnTo>
                <a:lnTo>
                  <a:pt x="10166061" y="5523560"/>
                </a:lnTo>
                <a:lnTo>
                  <a:pt x="0" y="5523560"/>
                </a:lnTo>
                <a:lnTo>
                  <a:pt x="0" y="0"/>
                </a:lnTo>
                <a:close/>
              </a:path>
            </a:pathLst>
          </a:custGeom>
          <a:blipFill>
            <a:blip r:embed="rId2"/>
            <a:stretch>
              <a:fillRect l="0" t="0" r="0" b="0"/>
            </a:stretch>
          </a:blipFill>
        </p:spPr>
      </p:sp>
      <p:sp>
        <p:nvSpPr>
          <p:cNvPr name="Freeform 5" id="5"/>
          <p:cNvSpPr/>
          <p:nvPr/>
        </p:nvSpPr>
        <p:spPr>
          <a:xfrm flipH="false" flipV="false" rot="-3689918">
            <a:off x="-3481942" y="-1490472"/>
            <a:ext cx="9021285" cy="5969359"/>
          </a:xfrm>
          <a:custGeom>
            <a:avLst/>
            <a:gdLst/>
            <a:ahLst/>
            <a:cxnLst/>
            <a:rect r="r" b="b" t="t" l="l"/>
            <a:pathLst>
              <a:path h="5969359" w="9021285">
                <a:moveTo>
                  <a:pt x="0" y="0"/>
                </a:moveTo>
                <a:lnTo>
                  <a:pt x="9021284" y="0"/>
                </a:lnTo>
                <a:lnTo>
                  <a:pt x="9021284" y="5969359"/>
                </a:lnTo>
                <a:lnTo>
                  <a:pt x="0" y="596935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15341377" y="-1728604"/>
            <a:ext cx="6200384" cy="4114800"/>
          </a:xfrm>
          <a:custGeom>
            <a:avLst/>
            <a:gdLst/>
            <a:ahLst/>
            <a:cxnLst/>
            <a:rect r="r" b="b" t="t" l="l"/>
            <a:pathLst>
              <a:path h="4114800" w="6200384">
                <a:moveTo>
                  <a:pt x="0" y="0"/>
                </a:moveTo>
                <a:lnTo>
                  <a:pt x="6200383" y="0"/>
                </a:lnTo>
                <a:lnTo>
                  <a:pt x="6200383"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false" flipV="false" rot="0">
            <a:off x="-1764947" y="6875720"/>
            <a:ext cx="4577317" cy="6822560"/>
          </a:xfrm>
          <a:custGeom>
            <a:avLst/>
            <a:gdLst/>
            <a:ahLst/>
            <a:cxnLst/>
            <a:rect r="r" b="b" t="t" l="l"/>
            <a:pathLst>
              <a:path h="6822560" w="4577317">
                <a:moveTo>
                  <a:pt x="0" y="0"/>
                </a:moveTo>
                <a:lnTo>
                  <a:pt x="4577317" y="0"/>
                </a:lnTo>
                <a:lnTo>
                  <a:pt x="4577317" y="6822560"/>
                </a:lnTo>
                <a:lnTo>
                  <a:pt x="0" y="68225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8" id="8"/>
          <p:cNvSpPr txBox="true"/>
          <p:nvPr/>
        </p:nvSpPr>
        <p:spPr>
          <a:xfrm rot="0">
            <a:off x="10143862" y="3660741"/>
            <a:ext cx="6823647" cy="3221673"/>
          </a:xfrm>
          <a:prstGeom prst="rect">
            <a:avLst/>
          </a:prstGeom>
        </p:spPr>
        <p:txBody>
          <a:bodyPr anchor="t" rtlCol="false" tIns="0" lIns="0" bIns="0" rIns="0">
            <a:spAutoFit/>
          </a:bodyPr>
          <a:lstStyle/>
          <a:p>
            <a:pPr algn="ctr">
              <a:lnSpc>
                <a:spcPts val="4889"/>
              </a:lnSpc>
            </a:pPr>
            <a:r>
              <a:rPr lang="en-US" sz="2999" b="true">
                <a:solidFill>
                  <a:srgbClr val="000000"/>
                </a:solidFill>
                <a:latin typeface="Times New Roman MT Bold"/>
                <a:ea typeface="Times New Roman MT Bold"/>
                <a:cs typeface="Times New Roman MT Bold"/>
                <a:sym typeface="Times New Roman MT Bold"/>
              </a:rPr>
              <a:t>Features</a:t>
            </a:r>
          </a:p>
          <a:p>
            <a:pPr algn="just" marL="539749" indent="-269875" lvl="1">
              <a:lnSpc>
                <a:spcPts val="4074"/>
              </a:lnSpc>
              <a:buFont typeface="Arial"/>
              <a:buChar char="•"/>
            </a:pPr>
            <a:r>
              <a:rPr lang="en-US" sz="2499">
                <a:solidFill>
                  <a:srgbClr val="000000"/>
                </a:solidFill>
                <a:latin typeface="Open Sans"/>
                <a:ea typeface="Open Sans"/>
                <a:cs typeface="Open Sans"/>
                <a:sym typeface="Open Sans"/>
              </a:rPr>
              <a:t>Color-coded AQI indicators</a:t>
            </a:r>
          </a:p>
          <a:p>
            <a:pPr algn="just" marL="539749" indent="-269875" lvl="1">
              <a:lnSpc>
                <a:spcPts val="4074"/>
              </a:lnSpc>
              <a:buFont typeface="Arial"/>
              <a:buChar char="•"/>
            </a:pPr>
            <a:r>
              <a:rPr lang="en-US" sz="2499">
                <a:solidFill>
                  <a:srgbClr val="000000"/>
                </a:solidFill>
                <a:latin typeface="Open Sans"/>
                <a:ea typeface="Open Sans"/>
                <a:cs typeface="Open Sans"/>
                <a:sym typeface="Open Sans"/>
              </a:rPr>
              <a:t>Line charts for pollutant trends</a:t>
            </a:r>
          </a:p>
          <a:p>
            <a:pPr algn="just" marL="539749" indent="-269875" lvl="1">
              <a:lnSpc>
                <a:spcPts val="4074"/>
              </a:lnSpc>
              <a:buFont typeface="Arial"/>
              <a:buChar char="•"/>
            </a:pPr>
            <a:r>
              <a:rPr lang="en-US" sz="2499">
                <a:solidFill>
                  <a:srgbClr val="000000"/>
                </a:solidFill>
                <a:latin typeface="Open Sans"/>
                <a:ea typeface="Open Sans"/>
                <a:cs typeface="Open Sans"/>
                <a:sym typeface="Open Sans"/>
              </a:rPr>
              <a:t>Table for live pollutant readings</a:t>
            </a:r>
          </a:p>
          <a:p>
            <a:pPr algn="just" marL="539749" indent="-269875" lvl="1">
              <a:lnSpc>
                <a:spcPts val="4074"/>
              </a:lnSpc>
              <a:buFont typeface="Arial"/>
              <a:buChar char="•"/>
            </a:pPr>
            <a:r>
              <a:rPr lang="en-US" sz="2499">
                <a:solidFill>
                  <a:srgbClr val="000000"/>
                </a:solidFill>
                <a:latin typeface="Open Sans"/>
                <a:ea typeface="Open Sans"/>
                <a:cs typeface="Open Sans"/>
                <a:sym typeface="Open Sans"/>
              </a:rPr>
              <a:t>Auto-refresh mechanism for updated data</a:t>
            </a:r>
          </a:p>
          <a:p>
            <a:pPr algn="just" marL="539749" indent="-269875" lvl="1">
              <a:lnSpc>
                <a:spcPts val="4074"/>
              </a:lnSpc>
              <a:buFont typeface="Arial"/>
              <a:buChar char="•"/>
            </a:pPr>
            <a:r>
              <a:rPr lang="en-US" sz="2499">
                <a:solidFill>
                  <a:srgbClr val="000000"/>
                </a:solidFill>
                <a:latin typeface="Open Sans"/>
                <a:ea typeface="Open Sans"/>
                <a:cs typeface="Open Sans"/>
                <a:sym typeface="Open Sans"/>
              </a:rPr>
              <a:t>Error handling for missing API data</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EFF3EF"/>
        </a:solidFill>
      </p:bgPr>
    </p:bg>
    <p:spTree>
      <p:nvGrpSpPr>
        <p:cNvPr id="1" name=""/>
        <p:cNvGrpSpPr/>
        <p:nvPr/>
      </p:nvGrpSpPr>
      <p:grpSpPr>
        <a:xfrm>
          <a:off x="0" y="0"/>
          <a:ext cx="0" cy="0"/>
          <a:chOff x="0" y="0"/>
          <a:chExt cx="0" cy="0"/>
        </a:xfrm>
      </p:grpSpPr>
      <p:sp>
        <p:nvSpPr>
          <p:cNvPr name="TextBox 2" id="2"/>
          <p:cNvSpPr txBox="true"/>
          <p:nvPr/>
        </p:nvSpPr>
        <p:spPr>
          <a:xfrm rot="0">
            <a:off x="4754245" y="723190"/>
            <a:ext cx="9204202" cy="1195706"/>
          </a:xfrm>
          <a:prstGeom prst="rect">
            <a:avLst/>
          </a:prstGeom>
        </p:spPr>
        <p:txBody>
          <a:bodyPr anchor="t" rtlCol="false" tIns="0" lIns="0" bIns="0" rIns="0">
            <a:spAutoFit/>
          </a:bodyPr>
          <a:lstStyle/>
          <a:p>
            <a:pPr algn="ctr">
              <a:lnSpc>
                <a:spcPts val="7760"/>
              </a:lnSpc>
            </a:pPr>
            <a:r>
              <a:rPr lang="en-US" sz="8000">
                <a:solidFill>
                  <a:srgbClr val="003352"/>
                </a:solidFill>
                <a:latin typeface="Times New Roman MT"/>
                <a:ea typeface="Times New Roman MT"/>
                <a:cs typeface="Times New Roman MT"/>
                <a:sym typeface="Times New Roman MT"/>
              </a:rPr>
              <a:t>Backend Overview</a:t>
            </a:r>
          </a:p>
        </p:txBody>
      </p:sp>
      <p:sp>
        <p:nvSpPr>
          <p:cNvPr name="TextBox 3" id="3"/>
          <p:cNvSpPr txBox="true"/>
          <p:nvPr/>
        </p:nvSpPr>
        <p:spPr>
          <a:xfrm rot="0">
            <a:off x="2812370" y="2990112"/>
            <a:ext cx="13643870" cy="5365126"/>
          </a:xfrm>
          <a:prstGeom prst="rect">
            <a:avLst/>
          </a:prstGeom>
        </p:spPr>
        <p:txBody>
          <a:bodyPr anchor="t" rtlCol="false" tIns="0" lIns="0" bIns="0" rIns="0">
            <a:spAutoFit/>
          </a:bodyPr>
          <a:lstStyle/>
          <a:p>
            <a:pPr algn="l">
              <a:lnSpc>
                <a:spcPts val="3534"/>
              </a:lnSpc>
            </a:pPr>
            <a:r>
              <a:rPr lang="en-US" sz="2524" spc="27">
                <a:solidFill>
                  <a:srgbClr val="000000"/>
                </a:solidFill>
                <a:latin typeface="Open Sans"/>
                <a:ea typeface="Open Sans"/>
                <a:cs typeface="Open Sans"/>
                <a:sym typeface="Open Sans"/>
              </a:rPr>
              <a:t>Data Processing: Reads raw CSV dataset containing Maharashtra AQI data and pollutant details (PM2.5, PM10, CO, NO2).</a:t>
            </a:r>
          </a:p>
          <a:p>
            <a:pPr algn="l">
              <a:lnSpc>
                <a:spcPts val="3534"/>
              </a:lnSpc>
            </a:pPr>
            <a:r>
              <a:rPr lang="en-US" sz="2524" spc="27">
                <a:solidFill>
                  <a:srgbClr val="000000"/>
                </a:solidFill>
                <a:latin typeface="Open Sans"/>
                <a:ea typeface="Open Sans"/>
                <a:cs typeface="Open Sans"/>
                <a:sym typeface="Open Sans"/>
              </a:rPr>
              <a:t>Data Cleaning &amp; Preprocessing:</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Handles null or missing values automatically.</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Converts datatypes to proper formats for efficient processing (e.g., string → datetime, float → numeric).</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Ensures data consistency across multiple cities and dates.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API Endpoints: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/data → Returns full dataset or filtered data for visualization.</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/cities → Provides list of available cities for search and dashboard suggestions.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/filter → Supports filtering by city, date range, or pollutant levels.</a:t>
            </a:r>
          </a:p>
          <a:p>
            <a:pPr algn="l">
              <a:lnSpc>
                <a:spcPts val="3534"/>
              </a:lnSpc>
            </a:pPr>
          </a:p>
        </p:txBody>
      </p:sp>
      <p:sp>
        <p:nvSpPr>
          <p:cNvPr name="Freeform 4" id="4"/>
          <p:cNvSpPr/>
          <p:nvPr/>
        </p:nvSpPr>
        <p:spPr>
          <a:xfrm flipH="false" flipV="false" rot="0">
            <a:off x="8262240" y="6110626"/>
            <a:ext cx="10166061" cy="5523560"/>
          </a:xfrm>
          <a:custGeom>
            <a:avLst/>
            <a:gdLst/>
            <a:ahLst/>
            <a:cxnLst/>
            <a:rect r="r" b="b" t="t" l="l"/>
            <a:pathLst>
              <a:path h="5523560" w="10166061">
                <a:moveTo>
                  <a:pt x="0" y="0"/>
                </a:moveTo>
                <a:lnTo>
                  <a:pt x="10166061" y="0"/>
                </a:lnTo>
                <a:lnTo>
                  <a:pt x="10166061" y="5523560"/>
                </a:lnTo>
                <a:lnTo>
                  <a:pt x="0" y="5523560"/>
                </a:lnTo>
                <a:lnTo>
                  <a:pt x="0" y="0"/>
                </a:lnTo>
                <a:close/>
              </a:path>
            </a:pathLst>
          </a:custGeom>
          <a:blipFill>
            <a:blip r:embed="rId2"/>
            <a:stretch>
              <a:fillRect l="0" t="0" r="0" b="0"/>
            </a:stretch>
          </a:blipFill>
        </p:spPr>
      </p:sp>
      <p:sp>
        <p:nvSpPr>
          <p:cNvPr name="Freeform 5" id="5"/>
          <p:cNvSpPr/>
          <p:nvPr/>
        </p:nvSpPr>
        <p:spPr>
          <a:xfrm flipH="false" flipV="false" rot="-3689918">
            <a:off x="-4236951" y="-1673162"/>
            <a:ext cx="9021285" cy="5969359"/>
          </a:xfrm>
          <a:custGeom>
            <a:avLst/>
            <a:gdLst/>
            <a:ahLst/>
            <a:cxnLst/>
            <a:rect r="r" b="b" t="t" l="l"/>
            <a:pathLst>
              <a:path h="5969359" w="9021285">
                <a:moveTo>
                  <a:pt x="0" y="0"/>
                </a:moveTo>
                <a:lnTo>
                  <a:pt x="9021284" y="0"/>
                </a:lnTo>
                <a:lnTo>
                  <a:pt x="9021284" y="5969360"/>
                </a:lnTo>
                <a:lnTo>
                  <a:pt x="0" y="596936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15574750" y="-1563809"/>
            <a:ext cx="6200384" cy="4114800"/>
          </a:xfrm>
          <a:custGeom>
            <a:avLst/>
            <a:gdLst/>
            <a:ahLst/>
            <a:cxnLst/>
            <a:rect r="r" b="b" t="t" l="l"/>
            <a:pathLst>
              <a:path h="4114800" w="6200384">
                <a:moveTo>
                  <a:pt x="0" y="0"/>
                </a:moveTo>
                <a:lnTo>
                  <a:pt x="6200384" y="0"/>
                </a:lnTo>
                <a:lnTo>
                  <a:pt x="620038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false" flipV="false" rot="0">
            <a:off x="-1764947" y="6875720"/>
            <a:ext cx="4577317" cy="6822560"/>
          </a:xfrm>
          <a:custGeom>
            <a:avLst/>
            <a:gdLst/>
            <a:ahLst/>
            <a:cxnLst/>
            <a:rect r="r" b="b" t="t" l="l"/>
            <a:pathLst>
              <a:path h="6822560" w="4577317">
                <a:moveTo>
                  <a:pt x="0" y="0"/>
                </a:moveTo>
                <a:lnTo>
                  <a:pt x="4577317" y="0"/>
                </a:lnTo>
                <a:lnTo>
                  <a:pt x="4577317" y="6822560"/>
                </a:lnTo>
                <a:lnTo>
                  <a:pt x="0" y="68225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EFF3EF"/>
        </a:solidFill>
      </p:bgPr>
    </p:bg>
    <p:spTree>
      <p:nvGrpSpPr>
        <p:cNvPr id="1" name=""/>
        <p:cNvGrpSpPr/>
        <p:nvPr/>
      </p:nvGrpSpPr>
      <p:grpSpPr>
        <a:xfrm>
          <a:off x="0" y="0"/>
          <a:ext cx="0" cy="0"/>
          <a:chOff x="0" y="0"/>
          <a:chExt cx="0" cy="0"/>
        </a:xfrm>
      </p:grpSpPr>
      <p:sp>
        <p:nvSpPr>
          <p:cNvPr name="Freeform 2" id="2"/>
          <p:cNvSpPr/>
          <p:nvPr/>
        </p:nvSpPr>
        <p:spPr>
          <a:xfrm flipH="false" flipV="false" rot="0">
            <a:off x="8262240" y="6110626"/>
            <a:ext cx="10166061" cy="5523560"/>
          </a:xfrm>
          <a:custGeom>
            <a:avLst/>
            <a:gdLst/>
            <a:ahLst/>
            <a:cxnLst/>
            <a:rect r="r" b="b" t="t" l="l"/>
            <a:pathLst>
              <a:path h="5523560" w="10166061">
                <a:moveTo>
                  <a:pt x="0" y="0"/>
                </a:moveTo>
                <a:lnTo>
                  <a:pt x="10166061" y="0"/>
                </a:lnTo>
                <a:lnTo>
                  <a:pt x="10166061" y="5523560"/>
                </a:lnTo>
                <a:lnTo>
                  <a:pt x="0" y="5523560"/>
                </a:lnTo>
                <a:lnTo>
                  <a:pt x="0" y="0"/>
                </a:lnTo>
                <a:close/>
              </a:path>
            </a:pathLst>
          </a:custGeom>
          <a:blipFill>
            <a:blip r:embed="rId2"/>
            <a:stretch>
              <a:fillRect l="0" t="0" r="0" b="0"/>
            </a:stretch>
          </a:blipFill>
        </p:spPr>
      </p:sp>
      <p:sp>
        <p:nvSpPr>
          <p:cNvPr name="Freeform 3" id="3"/>
          <p:cNvSpPr/>
          <p:nvPr/>
        </p:nvSpPr>
        <p:spPr>
          <a:xfrm flipH="false" flipV="false" rot="-3689918">
            <a:off x="-3481942" y="-1490472"/>
            <a:ext cx="9021285" cy="5969359"/>
          </a:xfrm>
          <a:custGeom>
            <a:avLst/>
            <a:gdLst/>
            <a:ahLst/>
            <a:cxnLst/>
            <a:rect r="r" b="b" t="t" l="l"/>
            <a:pathLst>
              <a:path h="5969359" w="9021285">
                <a:moveTo>
                  <a:pt x="0" y="0"/>
                </a:moveTo>
                <a:lnTo>
                  <a:pt x="9021284" y="0"/>
                </a:lnTo>
                <a:lnTo>
                  <a:pt x="9021284" y="5969359"/>
                </a:lnTo>
                <a:lnTo>
                  <a:pt x="0" y="596935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4159108" y="-745882"/>
            <a:ext cx="6200384" cy="4114800"/>
          </a:xfrm>
          <a:custGeom>
            <a:avLst/>
            <a:gdLst/>
            <a:ahLst/>
            <a:cxnLst/>
            <a:rect r="r" b="b" t="t" l="l"/>
            <a:pathLst>
              <a:path h="4114800" w="6200384">
                <a:moveTo>
                  <a:pt x="0" y="0"/>
                </a:moveTo>
                <a:lnTo>
                  <a:pt x="6200384" y="0"/>
                </a:lnTo>
                <a:lnTo>
                  <a:pt x="620038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5" id="5"/>
          <p:cNvSpPr/>
          <p:nvPr/>
        </p:nvSpPr>
        <p:spPr>
          <a:xfrm flipH="false" flipV="false" rot="0">
            <a:off x="-1764947" y="6875720"/>
            <a:ext cx="4577317" cy="6822560"/>
          </a:xfrm>
          <a:custGeom>
            <a:avLst/>
            <a:gdLst/>
            <a:ahLst/>
            <a:cxnLst/>
            <a:rect r="r" b="b" t="t" l="l"/>
            <a:pathLst>
              <a:path h="6822560" w="4577317">
                <a:moveTo>
                  <a:pt x="0" y="0"/>
                </a:moveTo>
                <a:lnTo>
                  <a:pt x="4577317" y="0"/>
                </a:lnTo>
                <a:lnTo>
                  <a:pt x="4577317" y="6822560"/>
                </a:lnTo>
                <a:lnTo>
                  <a:pt x="0" y="68225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6" id="6"/>
          <p:cNvSpPr/>
          <p:nvPr/>
        </p:nvSpPr>
        <p:spPr>
          <a:xfrm flipH="false" flipV="false" rot="0">
            <a:off x="3257430" y="2704301"/>
            <a:ext cx="11301259" cy="6356958"/>
          </a:xfrm>
          <a:custGeom>
            <a:avLst/>
            <a:gdLst/>
            <a:ahLst/>
            <a:cxnLst/>
            <a:rect r="r" b="b" t="t" l="l"/>
            <a:pathLst>
              <a:path h="6356958" w="11301259">
                <a:moveTo>
                  <a:pt x="0" y="0"/>
                </a:moveTo>
                <a:lnTo>
                  <a:pt x="11301259" y="0"/>
                </a:lnTo>
                <a:lnTo>
                  <a:pt x="11301259" y="6356958"/>
                </a:lnTo>
                <a:lnTo>
                  <a:pt x="0" y="6356958"/>
                </a:lnTo>
                <a:lnTo>
                  <a:pt x="0" y="0"/>
                </a:lnTo>
                <a:close/>
              </a:path>
            </a:pathLst>
          </a:custGeom>
          <a:blipFill>
            <a:blip r:embed="rId9"/>
            <a:stretch>
              <a:fillRect l="0" t="0" r="0" b="0"/>
            </a:stretch>
          </a:blipFill>
        </p:spPr>
      </p:sp>
      <p:sp>
        <p:nvSpPr>
          <p:cNvPr name="TextBox 7" id="7"/>
          <p:cNvSpPr txBox="true"/>
          <p:nvPr/>
        </p:nvSpPr>
        <p:spPr>
          <a:xfrm rot="0">
            <a:off x="5871030" y="1029260"/>
            <a:ext cx="6545941" cy="1195706"/>
          </a:xfrm>
          <a:prstGeom prst="rect">
            <a:avLst/>
          </a:prstGeom>
        </p:spPr>
        <p:txBody>
          <a:bodyPr anchor="t" rtlCol="false" tIns="0" lIns="0" bIns="0" rIns="0">
            <a:spAutoFit/>
          </a:bodyPr>
          <a:lstStyle/>
          <a:p>
            <a:pPr algn="ctr">
              <a:lnSpc>
                <a:spcPts val="7760"/>
              </a:lnSpc>
            </a:pPr>
            <a:r>
              <a:rPr lang="en-US" sz="8000">
                <a:solidFill>
                  <a:srgbClr val="003352"/>
                </a:solidFill>
                <a:latin typeface="Times New Roman MT"/>
                <a:ea typeface="Times New Roman MT"/>
                <a:cs typeface="Times New Roman MT"/>
                <a:sym typeface="Times New Roman MT"/>
              </a:rPr>
              <a:t>UI</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EFF3EF"/>
        </a:solidFill>
      </p:bgPr>
    </p:bg>
    <p:spTree>
      <p:nvGrpSpPr>
        <p:cNvPr id="1" name=""/>
        <p:cNvGrpSpPr/>
        <p:nvPr/>
      </p:nvGrpSpPr>
      <p:grpSpPr>
        <a:xfrm>
          <a:off x="0" y="0"/>
          <a:ext cx="0" cy="0"/>
          <a:chOff x="0" y="0"/>
          <a:chExt cx="0" cy="0"/>
        </a:xfrm>
      </p:grpSpPr>
      <p:sp>
        <p:nvSpPr>
          <p:cNvPr name="TextBox 2" id="2"/>
          <p:cNvSpPr txBox="true"/>
          <p:nvPr/>
        </p:nvSpPr>
        <p:spPr>
          <a:xfrm rot="0">
            <a:off x="5131750" y="1025513"/>
            <a:ext cx="8417734" cy="1195706"/>
          </a:xfrm>
          <a:prstGeom prst="rect">
            <a:avLst/>
          </a:prstGeom>
        </p:spPr>
        <p:txBody>
          <a:bodyPr anchor="t" rtlCol="false" tIns="0" lIns="0" bIns="0" rIns="0">
            <a:spAutoFit/>
          </a:bodyPr>
          <a:lstStyle/>
          <a:p>
            <a:pPr algn="ctr">
              <a:lnSpc>
                <a:spcPts val="7760"/>
              </a:lnSpc>
            </a:pPr>
            <a:r>
              <a:rPr lang="en-US" sz="8000">
                <a:solidFill>
                  <a:srgbClr val="003352"/>
                </a:solidFill>
                <a:latin typeface="Times New Roman MT"/>
                <a:ea typeface="Times New Roman MT"/>
                <a:cs typeface="Times New Roman MT"/>
                <a:sym typeface="Times New Roman MT"/>
              </a:rPr>
              <a:t>Challenges Faced</a:t>
            </a:r>
          </a:p>
        </p:txBody>
      </p:sp>
      <p:sp>
        <p:nvSpPr>
          <p:cNvPr name="TextBox 3" id="3"/>
          <p:cNvSpPr txBox="true"/>
          <p:nvPr/>
        </p:nvSpPr>
        <p:spPr>
          <a:xfrm rot="0">
            <a:off x="2076265" y="3059604"/>
            <a:ext cx="15531393" cy="5365126"/>
          </a:xfrm>
          <a:prstGeom prst="rect">
            <a:avLst/>
          </a:prstGeom>
        </p:spPr>
        <p:txBody>
          <a:bodyPr anchor="t" rtlCol="false" tIns="0" lIns="0" bIns="0" rIns="0">
            <a:spAutoFit/>
          </a:bodyPr>
          <a:lstStyle/>
          <a:p>
            <a:pPr algn="l">
              <a:lnSpc>
                <a:spcPts val="3534"/>
              </a:lnSpc>
            </a:pPr>
            <a:r>
              <a:rPr lang="en-US" sz="2524" spc="27" b="true">
                <a:solidFill>
                  <a:srgbClr val="000000"/>
                </a:solidFill>
                <a:latin typeface="Open Sans Bold"/>
                <a:ea typeface="Open Sans Bold"/>
                <a:cs typeface="Open Sans Bold"/>
                <a:sym typeface="Open Sans Bold"/>
              </a:rPr>
              <a:t>Large Dataset Size:</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The Maharashtra AQI dataset contains thousands of rows across multiple cities and years.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Initially caused slow page loads and delayed API responses, requiring optimization.</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Cleaning Inconsistent Timestamps: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Raw data h</a:t>
            </a:r>
            <a:r>
              <a:rPr lang="en-US" sz="2524" spc="27">
                <a:solidFill>
                  <a:srgbClr val="000000"/>
                </a:solidFill>
                <a:latin typeface="Open Sans"/>
                <a:ea typeface="Open Sans"/>
                <a:cs typeface="Open Sans"/>
                <a:sym typeface="Open Sans"/>
              </a:rPr>
              <a:t>ad different timestamp formats and missing dates, making it difficult to process.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Required careful standardization and alignment for accurate trend analysis.</a:t>
            </a:r>
          </a:p>
          <a:p>
            <a:pPr algn="l">
              <a:lnSpc>
                <a:spcPts val="3534"/>
              </a:lnSpc>
            </a:pPr>
            <a:r>
              <a:rPr lang="en-US" sz="2524" spc="27" b="true">
                <a:solidFill>
                  <a:srgbClr val="000000"/>
                </a:solidFill>
                <a:latin typeface="Open Sans Bold"/>
                <a:ea typeface="Open Sans Bold"/>
                <a:cs typeface="Open Sans Bold"/>
                <a:sym typeface="Open Sans Bold"/>
              </a:rPr>
              <a:t>Maintaining Data Accuracy:</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Ensuring pollutant values and AQI calculations were correct after cleaning and preprocessing.</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Needed cross-verification with historical data to prevent prediction errors.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Creating Responsive Pollutant Charts: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Designing charts for PM2.5, PM10, CO levels that are inter</a:t>
            </a:r>
            <a:r>
              <a:rPr lang="en-US" sz="2524" spc="27">
                <a:solidFill>
                  <a:srgbClr val="000000"/>
                </a:solidFill>
                <a:latin typeface="Open Sans"/>
                <a:ea typeface="Open Sans"/>
                <a:cs typeface="Open Sans"/>
                <a:sym typeface="Open Sans"/>
              </a:rPr>
              <a:t>active and responsive across devices.</a:t>
            </a:r>
          </a:p>
          <a:p>
            <a:pPr algn="l" marL="545054" indent="-272527" lvl="1">
              <a:lnSpc>
                <a:spcPts val="3534"/>
              </a:lnSpc>
              <a:buFont typeface="Arial"/>
              <a:buChar char="•"/>
            </a:pPr>
            <a:r>
              <a:rPr lang="en-US" sz="2524" spc="27">
                <a:solidFill>
                  <a:srgbClr val="000000"/>
                </a:solidFill>
                <a:latin typeface="Open Sans"/>
                <a:ea typeface="Open Sans"/>
                <a:cs typeface="Open Sans"/>
                <a:sym typeface="Open Sans"/>
              </a:rPr>
              <a:t>Needed optimization to load quickly without affecting dashboard performance.</a:t>
            </a:r>
          </a:p>
        </p:txBody>
      </p:sp>
      <p:sp>
        <p:nvSpPr>
          <p:cNvPr name="Freeform 4" id="4"/>
          <p:cNvSpPr/>
          <p:nvPr/>
        </p:nvSpPr>
        <p:spPr>
          <a:xfrm flipH="false" flipV="false" rot="0">
            <a:off x="8671203" y="6110626"/>
            <a:ext cx="10166061" cy="5523560"/>
          </a:xfrm>
          <a:custGeom>
            <a:avLst/>
            <a:gdLst/>
            <a:ahLst/>
            <a:cxnLst/>
            <a:rect r="r" b="b" t="t" l="l"/>
            <a:pathLst>
              <a:path h="5523560" w="10166061">
                <a:moveTo>
                  <a:pt x="0" y="0"/>
                </a:moveTo>
                <a:lnTo>
                  <a:pt x="10166061" y="0"/>
                </a:lnTo>
                <a:lnTo>
                  <a:pt x="10166061" y="5523560"/>
                </a:lnTo>
                <a:lnTo>
                  <a:pt x="0" y="5523560"/>
                </a:lnTo>
                <a:lnTo>
                  <a:pt x="0" y="0"/>
                </a:lnTo>
                <a:close/>
              </a:path>
            </a:pathLst>
          </a:custGeom>
          <a:blipFill>
            <a:blip r:embed="rId2"/>
            <a:stretch>
              <a:fillRect l="0" t="0" r="0" b="0"/>
            </a:stretch>
          </a:blipFill>
        </p:spPr>
      </p:sp>
      <p:sp>
        <p:nvSpPr>
          <p:cNvPr name="Freeform 5" id="5"/>
          <p:cNvSpPr/>
          <p:nvPr/>
        </p:nvSpPr>
        <p:spPr>
          <a:xfrm flipH="false" flipV="false" rot="-3689918">
            <a:off x="-4154233" y="-1978217"/>
            <a:ext cx="9021285" cy="5969359"/>
          </a:xfrm>
          <a:custGeom>
            <a:avLst/>
            <a:gdLst/>
            <a:ahLst/>
            <a:cxnLst/>
            <a:rect r="r" b="b" t="t" l="l"/>
            <a:pathLst>
              <a:path h="5969359" w="9021285">
                <a:moveTo>
                  <a:pt x="0" y="0"/>
                </a:moveTo>
                <a:lnTo>
                  <a:pt x="9021285" y="0"/>
                </a:lnTo>
                <a:lnTo>
                  <a:pt x="9021285" y="5969359"/>
                </a:lnTo>
                <a:lnTo>
                  <a:pt x="0" y="596935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15621938" y="-1595267"/>
            <a:ext cx="6200384" cy="4114800"/>
          </a:xfrm>
          <a:custGeom>
            <a:avLst/>
            <a:gdLst/>
            <a:ahLst/>
            <a:cxnLst/>
            <a:rect r="r" b="b" t="t" l="l"/>
            <a:pathLst>
              <a:path h="4114800" w="6200384">
                <a:moveTo>
                  <a:pt x="0" y="0"/>
                </a:moveTo>
                <a:lnTo>
                  <a:pt x="6200384" y="0"/>
                </a:lnTo>
                <a:lnTo>
                  <a:pt x="620038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false" flipV="false" rot="0">
            <a:off x="-1764947" y="6875720"/>
            <a:ext cx="4577317" cy="6822560"/>
          </a:xfrm>
          <a:custGeom>
            <a:avLst/>
            <a:gdLst/>
            <a:ahLst/>
            <a:cxnLst/>
            <a:rect r="r" b="b" t="t" l="l"/>
            <a:pathLst>
              <a:path h="6822560" w="4577317">
                <a:moveTo>
                  <a:pt x="0" y="0"/>
                </a:moveTo>
                <a:lnTo>
                  <a:pt x="4577317" y="0"/>
                </a:lnTo>
                <a:lnTo>
                  <a:pt x="4577317" y="6822560"/>
                </a:lnTo>
                <a:lnTo>
                  <a:pt x="0" y="68225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EFF3EF"/>
        </a:solidFill>
      </p:bgPr>
    </p:bg>
    <p:spTree>
      <p:nvGrpSpPr>
        <p:cNvPr id="1" name=""/>
        <p:cNvGrpSpPr/>
        <p:nvPr/>
      </p:nvGrpSpPr>
      <p:grpSpPr>
        <a:xfrm>
          <a:off x="0" y="0"/>
          <a:ext cx="0" cy="0"/>
          <a:chOff x="0" y="0"/>
          <a:chExt cx="0" cy="0"/>
        </a:xfrm>
      </p:grpSpPr>
      <p:sp>
        <p:nvSpPr>
          <p:cNvPr name="TextBox 2" id="2"/>
          <p:cNvSpPr txBox="true"/>
          <p:nvPr/>
        </p:nvSpPr>
        <p:spPr>
          <a:xfrm rot="0">
            <a:off x="2595833" y="1663121"/>
            <a:ext cx="13096334" cy="1195706"/>
          </a:xfrm>
          <a:prstGeom prst="rect">
            <a:avLst/>
          </a:prstGeom>
        </p:spPr>
        <p:txBody>
          <a:bodyPr anchor="t" rtlCol="false" tIns="0" lIns="0" bIns="0" rIns="0">
            <a:spAutoFit/>
          </a:bodyPr>
          <a:lstStyle/>
          <a:p>
            <a:pPr algn="ctr">
              <a:lnSpc>
                <a:spcPts val="7760"/>
              </a:lnSpc>
            </a:pPr>
            <a:r>
              <a:rPr lang="en-US" sz="8000">
                <a:solidFill>
                  <a:srgbClr val="003352"/>
                </a:solidFill>
                <a:latin typeface="Times New Roman MT"/>
                <a:ea typeface="Times New Roman MT"/>
                <a:cs typeface="Times New Roman MT"/>
                <a:sym typeface="Times New Roman MT"/>
              </a:rPr>
              <a:t>Conclusion</a:t>
            </a:r>
          </a:p>
        </p:txBody>
      </p:sp>
      <p:sp>
        <p:nvSpPr>
          <p:cNvPr name="Freeform 3" id="3"/>
          <p:cNvSpPr/>
          <p:nvPr/>
        </p:nvSpPr>
        <p:spPr>
          <a:xfrm flipH="false" flipV="false" rot="0">
            <a:off x="8262240" y="6110626"/>
            <a:ext cx="10166061" cy="5523560"/>
          </a:xfrm>
          <a:custGeom>
            <a:avLst/>
            <a:gdLst/>
            <a:ahLst/>
            <a:cxnLst/>
            <a:rect r="r" b="b" t="t" l="l"/>
            <a:pathLst>
              <a:path h="5523560" w="10166061">
                <a:moveTo>
                  <a:pt x="0" y="0"/>
                </a:moveTo>
                <a:lnTo>
                  <a:pt x="10166061" y="0"/>
                </a:lnTo>
                <a:lnTo>
                  <a:pt x="10166061" y="5523560"/>
                </a:lnTo>
                <a:lnTo>
                  <a:pt x="0" y="5523560"/>
                </a:lnTo>
                <a:lnTo>
                  <a:pt x="0" y="0"/>
                </a:lnTo>
                <a:close/>
              </a:path>
            </a:pathLst>
          </a:custGeom>
          <a:blipFill>
            <a:blip r:embed="rId2"/>
            <a:stretch>
              <a:fillRect l="0" t="0" r="0" b="0"/>
            </a:stretch>
          </a:blipFill>
        </p:spPr>
      </p:sp>
      <p:sp>
        <p:nvSpPr>
          <p:cNvPr name="Freeform 4" id="4"/>
          <p:cNvSpPr/>
          <p:nvPr/>
        </p:nvSpPr>
        <p:spPr>
          <a:xfrm flipH="false" flipV="false" rot="-3689918">
            <a:off x="-3481942" y="-1490472"/>
            <a:ext cx="9021285" cy="5969359"/>
          </a:xfrm>
          <a:custGeom>
            <a:avLst/>
            <a:gdLst/>
            <a:ahLst/>
            <a:cxnLst/>
            <a:rect r="r" b="b" t="t" l="l"/>
            <a:pathLst>
              <a:path h="5969359" w="9021285">
                <a:moveTo>
                  <a:pt x="0" y="0"/>
                </a:moveTo>
                <a:lnTo>
                  <a:pt x="9021284" y="0"/>
                </a:lnTo>
                <a:lnTo>
                  <a:pt x="9021284" y="5969359"/>
                </a:lnTo>
                <a:lnTo>
                  <a:pt x="0" y="596935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4159108" y="-745882"/>
            <a:ext cx="6200384" cy="4114800"/>
          </a:xfrm>
          <a:custGeom>
            <a:avLst/>
            <a:gdLst/>
            <a:ahLst/>
            <a:cxnLst/>
            <a:rect r="r" b="b" t="t" l="l"/>
            <a:pathLst>
              <a:path h="4114800" w="6200384">
                <a:moveTo>
                  <a:pt x="0" y="0"/>
                </a:moveTo>
                <a:lnTo>
                  <a:pt x="6200384" y="0"/>
                </a:lnTo>
                <a:lnTo>
                  <a:pt x="6200384"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764947" y="6875720"/>
            <a:ext cx="4577317" cy="6822560"/>
          </a:xfrm>
          <a:custGeom>
            <a:avLst/>
            <a:gdLst/>
            <a:ahLst/>
            <a:cxnLst/>
            <a:rect r="r" b="b" t="t" l="l"/>
            <a:pathLst>
              <a:path h="6822560" w="4577317">
                <a:moveTo>
                  <a:pt x="0" y="0"/>
                </a:moveTo>
                <a:lnTo>
                  <a:pt x="4577317" y="0"/>
                </a:lnTo>
                <a:lnTo>
                  <a:pt x="4577317" y="6822560"/>
                </a:lnTo>
                <a:lnTo>
                  <a:pt x="0" y="68225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7" id="7"/>
          <p:cNvSpPr txBox="true"/>
          <p:nvPr/>
        </p:nvSpPr>
        <p:spPr>
          <a:xfrm rot="0">
            <a:off x="3586293" y="3254618"/>
            <a:ext cx="11508647" cy="4683125"/>
          </a:xfrm>
          <a:prstGeom prst="rect">
            <a:avLst/>
          </a:prstGeom>
        </p:spPr>
        <p:txBody>
          <a:bodyPr anchor="t" rtlCol="false" tIns="0" lIns="0" bIns="0" rIns="0">
            <a:spAutoFit/>
          </a:bodyPr>
          <a:lstStyle/>
          <a:p>
            <a:pPr algn="just" marL="539749" indent="-269875" lvl="1">
              <a:lnSpc>
                <a:spcPts val="4149"/>
              </a:lnSpc>
              <a:buFont typeface="Arial"/>
              <a:buChar char="•"/>
            </a:pPr>
            <a:r>
              <a:rPr lang="en-US" sz="2499">
                <a:solidFill>
                  <a:srgbClr val="000000"/>
                </a:solidFill>
                <a:latin typeface="Open Sans"/>
                <a:ea typeface="Open Sans"/>
                <a:cs typeface="Open Sans"/>
                <a:sym typeface="Open Sans"/>
              </a:rPr>
              <a:t>AirAware provides a smart, interactive solution for monitoring and predicting AQI in Maharashtra.</a:t>
            </a:r>
          </a:p>
          <a:p>
            <a:pPr algn="just" marL="539749" indent="-269875" lvl="1">
              <a:lnSpc>
                <a:spcPts val="4149"/>
              </a:lnSpc>
              <a:buFont typeface="Arial"/>
              <a:buChar char="•"/>
            </a:pPr>
            <a:r>
              <a:rPr lang="en-US" sz="2499">
                <a:solidFill>
                  <a:srgbClr val="000000"/>
                </a:solidFill>
                <a:latin typeface="Open Sans"/>
                <a:ea typeface="Open Sans"/>
                <a:cs typeface="Open Sans"/>
                <a:sym typeface="Open Sans"/>
              </a:rPr>
              <a:t>Helps citizens taake preventive measures against pollution exposure.</a:t>
            </a:r>
          </a:p>
          <a:p>
            <a:pPr algn="just" marL="539749" indent="-269875" lvl="1">
              <a:lnSpc>
                <a:spcPts val="4149"/>
              </a:lnSpc>
              <a:buFont typeface="Arial"/>
              <a:buChar char="•"/>
            </a:pPr>
            <a:r>
              <a:rPr lang="en-US" sz="2499">
                <a:solidFill>
                  <a:srgbClr val="000000"/>
                </a:solidFill>
                <a:latin typeface="Open Sans"/>
                <a:ea typeface="Open Sans"/>
                <a:cs typeface="Open Sans"/>
                <a:sym typeface="Open Sans"/>
              </a:rPr>
              <a:t>Offers authorities insights for policy and planning.</a:t>
            </a:r>
          </a:p>
          <a:p>
            <a:pPr algn="just">
              <a:lnSpc>
                <a:spcPts val="4149"/>
              </a:lnSpc>
            </a:pPr>
            <a:r>
              <a:rPr lang="en-US" b="true" sz="2499">
                <a:solidFill>
                  <a:srgbClr val="000000"/>
                </a:solidFill>
                <a:latin typeface="Open Sans Bold"/>
                <a:ea typeface="Open Sans Bold"/>
                <a:cs typeface="Open Sans Bold"/>
                <a:sym typeface="Open Sans Bold"/>
              </a:rPr>
              <a:t>Future scope:</a:t>
            </a:r>
          </a:p>
          <a:p>
            <a:pPr algn="just" marL="539749" indent="-269875" lvl="1">
              <a:lnSpc>
                <a:spcPts val="4149"/>
              </a:lnSpc>
              <a:buFont typeface="Arial"/>
              <a:buChar char="•"/>
            </a:pPr>
            <a:r>
              <a:rPr lang="en-US" sz="2499">
                <a:solidFill>
                  <a:srgbClr val="000000"/>
                </a:solidFill>
                <a:latin typeface="Open Sans"/>
                <a:ea typeface="Open Sans"/>
                <a:cs typeface="Open Sans"/>
                <a:sym typeface="Open Sans"/>
              </a:rPr>
              <a:t>Integration of real-time sensor data.</a:t>
            </a:r>
          </a:p>
          <a:p>
            <a:pPr algn="just" marL="539749" indent="-269875" lvl="1">
              <a:lnSpc>
                <a:spcPts val="4149"/>
              </a:lnSpc>
              <a:buFont typeface="Arial"/>
              <a:buChar char="•"/>
            </a:pPr>
            <a:r>
              <a:rPr lang="en-US" sz="2499">
                <a:solidFill>
                  <a:srgbClr val="000000"/>
                </a:solidFill>
                <a:latin typeface="Open Sans"/>
                <a:ea typeface="Open Sans"/>
                <a:cs typeface="Open Sans"/>
                <a:sym typeface="Open Sans"/>
              </a:rPr>
              <a:t>Advanced AI models for improved predictions.</a:t>
            </a:r>
          </a:p>
          <a:p>
            <a:pPr algn="just" marL="539749" indent="-269875" lvl="1">
              <a:lnSpc>
                <a:spcPts val="4149"/>
              </a:lnSpc>
              <a:buFont typeface="Arial"/>
              <a:buChar char="•"/>
            </a:pPr>
            <a:r>
              <a:rPr lang="en-US" sz="2499">
                <a:solidFill>
                  <a:srgbClr val="000000"/>
                </a:solidFill>
                <a:latin typeface="Open Sans"/>
                <a:ea typeface="Open Sans"/>
                <a:cs typeface="Open Sans"/>
                <a:sym typeface="Open Sans"/>
              </a:rPr>
              <a:t>Mobile application version for widespread access.</a:t>
            </a:r>
          </a:p>
          <a:p>
            <a:pPr algn="just">
              <a:lnSpc>
                <a:spcPts val="4149"/>
              </a:lnSpc>
            </a:pP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EFF3EF"/>
        </a:solidFill>
      </p:bgPr>
    </p:bg>
    <p:spTree>
      <p:nvGrpSpPr>
        <p:cNvPr id="1" name=""/>
        <p:cNvGrpSpPr/>
        <p:nvPr/>
      </p:nvGrpSpPr>
      <p:grpSpPr>
        <a:xfrm>
          <a:off x="0" y="0"/>
          <a:ext cx="0" cy="0"/>
          <a:chOff x="0" y="0"/>
          <a:chExt cx="0" cy="0"/>
        </a:xfrm>
      </p:grpSpPr>
      <p:sp>
        <p:nvSpPr>
          <p:cNvPr name="Freeform 2" id="2"/>
          <p:cNvSpPr/>
          <p:nvPr/>
        </p:nvSpPr>
        <p:spPr>
          <a:xfrm flipH="false" flipV="false" rot="0">
            <a:off x="-401237" y="6580264"/>
            <a:ext cx="8299885" cy="4322857"/>
          </a:xfrm>
          <a:custGeom>
            <a:avLst/>
            <a:gdLst/>
            <a:ahLst/>
            <a:cxnLst/>
            <a:rect r="r" b="b" t="t" l="l"/>
            <a:pathLst>
              <a:path h="4322857" w="8299885">
                <a:moveTo>
                  <a:pt x="0" y="0"/>
                </a:moveTo>
                <a:lnTo>
                  <a:pt x="8299885" y="0"/>
                </a:lnTo>
                <a:lnTo>
                  <a:pt x="8299885" y="4322857"/>
                </a:lnTo>
                <a:lnTo>
                  <a:pt x="0" y="4322857"/>
                </a:lnTo>
                <a:lnTo>
                  <a:pt x="0" y="0"/>
                </a:lnTo>
                <a:close/>
              </a:path>
            </a:pathLst>
          </a:custGeom>
          <a:blipFill>
            <a:blip r:embed="rId2"/>
            <a:stretch>
              <a:fillRect l="0" t="0" r="0" b="0"/>
            </a:stretch>
          </a:blipFill>
        </p:spPr>
      </p:sp>
      <p:sp>
        <p:nvSpPr>
          <p:cNvPr name="TextBox 3" id="3"/>
          <p:cNvSpPr txBox="true"/>
          <p:nvPr/>
        </p:nvSpPr>
        <p:spPr>
          <a:xfrm rot="0">
            <a:off x="5355399" y="4418110"/>
            <a:ext cx="8112991" cy="1688905"/>
          </a:xfrm>
          <a:prstGeom prst="rect">
            <a:avLst/>
          </a:prstGeom>
        </p:spPr>
        <p:txBody>
          <a:bodyPr anchor="t" rtlCol="false" tIns="0" lIns="0" bIns="0" rIns="0">
            <a:spAutoFit/>
          </a:bodyPr>
          <a:lstStyle/>
          <a:p>
            <a:pPr algn="ctr">
              <a:lnSpc>
                <a:spcPts val="10010"/>
              </a:lnSpc>
            </a:pPr>
            <a:r>
              <a:rPr lang="en-US" sz="12671">
                <a:solidFill>
                  <a:srgbClr val="044A6A"/>
                </a:solidFill>
                <a:latin typeface="Times New Roman MT"/>
                <a:ea typeface="Times New Roman MT"/>
                <a:cs typeface="Times New Roman MT"/>
                <a:sym typeface="Times New Roman MT"/>
              </a:rPr>
              <a:t>Thank You</a:t>
            </a:r>
          </a:p>
        </p:txBody>
      </p:sp>
      <p:sp>
        <p:nvSpPr>
          <p:cNvPr name="Freeform 4" id="4"/>
          <p:cNvSpPr/>
          <p:nvPr/>
        </p:nvSpPr>
        <p:spPr>
          <a:xfrm flipH="false" flipV="false" rot="0">
            <a:off x="9938761" y="-1400690"/>
            <a:ext cx="9778768" cy="4000405"/>
          </a:xfrm>
          <a:custGeom>
            <a:avLst/>
            <a:gdLst/>
            <a:ahLst/>
            <a:cxnLst/>
            <a:rect r="r" b="b" t="t" l="l"/>
            <a:pathLst>
              <a:path h="4000405" w="9778768">
                <a:moveTo>
                  <a:pt x="0" y="0"/>
                </a:moveTo>
                <a:lnTo>
                  <a:pt x="9778767" y="0"/>
                </a:lnTo>
                <a:lnTo>
                  <a:pt x="9778767" y="4000405"/>
                </a:lnTo>
                <a:lnTo>
                  <a:pt x="0" y="400040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4181932">
            <a:off x="-2893003" y="8590"/>
            <a:ext cx="9021285" cy="5969359"/>
          </a:xfrm>
          <a:custGeom>
            <a:avLst/>
            <a:gdLst/>
            <a:ahLst/>
            <a:cxnLst/>
            <a:rect r="r" b="b" t="t" l="l"/>
            <a:pathLst>
              <a:path h="5969359" w="9021285">
                <a:moveTo>
                  <a:pt x="0" y="0"/>
                </a:moveTo>
                <a:lnTo>
                  <a:pt x="9021285" y="0"/>
                </a:lnTo>
                <a:lnTo>
                  <a:pt x="9021285" y="5969359"/>
                </a:lnTo>
                <a:lnTo>
                  <a:pt x="0" y="5969359"/>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4181932">
            <a:off x="11286547" y="4940010"/>
            <a:ext cx="9021285" cy="5969359"/>
          </a:xfrm>
          <a:custGeom>
            <a:avLst/>
            <a:gdLst/>
            <a:ahLst/>
            <a:cxnLst/>
            <a:rect r="r" b="b" t="t" l="l"/>
            <a:pathLst>
              <a:path h="5969359" w="9021285">
                <a:moveTo>
                  <a:pt x="0" y="0"/>
                </a:moveTo>
                <a:lnTo>
                  <a:pt x="9021284" y="0"/>
                </a:lnTo>
                <a:lnTo>
                  <a:pt x="9021284" y="5969359"/>
                </a:lnTo>
                <a:lnTo>
                  <a:pt x="0" y="5969359"/>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DAG5PM9zoIY</dc:identifier>
  <dcterms:modified xsi:type="dcterms:W3CDTF">2011-08-01T06:04:30Z</dcterms:modified>
  <cp:revision>1</cp:revision>
  <dc:title>AirAware ppt</dc:title>
</cp:coreProperties>
</file>